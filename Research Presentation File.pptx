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sldIdLst>
    <p:sldId id="256" r:id="rId2"/>
    <p:sldId id="257" r:id="rId3"/>
    <p:sldId id="258" r:id="rId4"/>
    <p:sldId id="259" r:id="rId5"/>
    <p:sldId id="266" r:id="rId6"/>
    <p:sldId id="260" r:id="rId7"/>
    <p:sldId id="267" r:id="rId8"/>
    <p:sldId id="261" r:id="rId9"/>
    <p:sldId id="262" r:id="rId10"/>
    <p:sldId id="263" r:id="rId11"/>
    <p:sldId id="264" r:id="rId12"/>
    <p:sldId id="265" r:id="rId13"/>
  </p:sldIdLst>
  <p:sldSz cx="14630400" cy="8229600"/>
  <p:notesSz cx="8229600" cy="14630400"/>
  <p:embeddedFontLst>
    <p:embeddedFont>
      <p:font typeface="Consolas" panose="020B0609020204030204" pitchFamily="49" charset="0"/>
      <p:regular r:id="rId15"/>
      <p:bold r:id="rId16"/>
      <p:italic r:id="rId17"/>
      <p:boldItalic r:id="rId18"/>
    </p:embeddedFont>
    <p:embeddedFont>
      <p:font typeface="Franklin Gothic Demi" panose="020B0703020102020204" pitchFamily="34" charset="0"/>
      <p:regular r:id="rId19"/>
      <p:italic r:id="rId20"/>
    </p:embeddedFont>
    <p:embeddedFont>
      <p:font typeface="Fraunces Extra Bold" panose="020B0604020202020204" charset="0"/>
      <p:regular r:id="rId21"/>
    </p:embeddedFont>
    <p:embeddedFont>
      <p:font typeface="Nobile" panose="020B0604020202020204" charset="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2" d="100"/>
          <a:sy n="72" d="100"/>
        </p:scale>
        <p:origin x="523"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889118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hyperlink" Target="https://easydata.sbp.org.pk/apex/f?p=10:211:11417931055048::NO:RP:P211_DATASET_TYPE_CODE,P211_PAGE_ID:TS_GP_IR_SIRPR_AH,1&amp;cs=1DBDF9690B5B7F30897BB1F56DA14DABF" TargetMode="External"/><Relationship Id="rId5" Type="http://schemas.openxmlformats.org/officeDocument/2006/relationships/image" Target="../media/image7.png"/><Relationship Id="rId4" Type="http://schemas.openxmlformats.org/officeDocument/2006/relationships/image" Target="../media/image6.svg"/></Relationships>
</file>

<file path=ppt/slides/_rels/slide5.xml.rels><?xml version="1.0" encoding="UTF-8" standalone="yes"?>
<Relationships xmlns="http://schemas.openxmlformats.org/package/2006/relationships"><Relationship Id="rId3" Type="http://schemas.openxmlformats.org/officeDocument/2006/relationships/hyperlink" Target="https://data.worldbank.org/indicator/NE.GDI.TOTL.KD.ZG?locations=PK" TargetMode="External"/><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0.sv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170121" y="1003314"/>
            <a:ext cx="8474149" cy="2480310"/>
          </a:xfrm>
          <a:prstGeom prst="rect">
            <a:avLst/>
          </a:prstGeom>
          <a:noFill/>
          <a:ln/>
        </p:spPr>
        <p:txBody>
          <a:bodyPr wrap="square" lIns="0" tIns="0" rIns="0" bIns="0" rtlCol="0" anchor="t"/>
          <a:lstStyle/>
          <a:p>
            <a:pPr algn="ctr">
              <a:lnSpc>
                <a:spcPts val="4850"/>
              </a:lnSpc>
            </a:pPr>
            <a:r>
              <a:rPr lang="en-US" sz="3900" i="1" dirty="0">
                <a:solidFill>
                  <a:srgbClr val="3B4540"/>
                </a:solidFill>
                <a:ea typeface="Fraunces Extra Bold" pitchFamily="34" charset="-122"/>
                <a:cs typeface="Fraunces Extra Bold" pitchFamily="34" charset="-120"/>
              </a:rPr>
              <a:t>Impact of </a:t>
            </a:r>
            <a:r>
              <a:rPr lang="en-US" sz="3900" b="1" i="1" dirty="0">
                <a:solidFill>
                  <a:srgbClr val="3B4540"/>
                </a:solidFill>
                <a:ea typeface="Fraunces Extra Bold" pitchFamily="34" charset="-122"/>
                <a:cs typeface="Fraunces Extra Bold" pitchFamily="34" charset="-120"/>
              </a:rPr>
              <a:t>Interest Rates</a:t>
            </a:r>
            <a:r>
              <a:rPr lang="en-US" sz="3900" i="1" dirty="0">
                <a:solidFill>
                  <a:srgbClr val="3B4540"/>
                </a:solidFill>
                <a:ea typeface="Fraunces Extra Bold" pitchFamily="34" charset="-122"/>
                <a:cs typeface="Fraunces Extra Bold" pitchFamily="34" charset="-120"/>
              </a:rPr>
              <a:t> on </a:t>
            </a:r>
            <a:r>
              <a:rPr lang="en-US" sz="4000" b="1" i="1" dirty="0">
                <a:solidFill>
                  <a:srgbClr val="405449"/>
                </a:solidFill>
                <a:ea typeface="Nobile" pitchFamily="34" charset="-122"/>
                <a:cs typeface="Nobile" pitchFamily="34" charset="-120"/>
              </a:rPr>
              <a:t>Gross Capital Formation Growth</a:t>
            </a:r>
            <a:r>
              <a:rPr lang="en-US" sz="3900" i="1" dirty="0">
                <a:solidFill>
                  <a:srgbClr val="3B4540"/>
                </a:solidFill>
                <a:ea typeface="Fraunces Extra Bold" pitchFamily="34" charset="-122"/>
                <a:cs typeface="Fraunces Extra Bold" pitchFamily="34" charset="-120"/>
              </a:rPr>
              <a:t> in Pakistan </a:t>
            </a:r>
          </a:p>
          <a:p>
            <a:pPr marL="0" indent="0" algn="ctr">
              <a:lnSpc>
                <a:spcPts val="4850"/>
              </a:lnSpc>
              <a:buNone/>
            </a:pPr>
            <a:r>
              <a:rPr lang="en-US" sz="3900" i="1" dirty="0">
                <a:solidFill>
                  <a:srgbClr val="3B4540"/>
                </a:solidFill>
                <a:ea typeface="Fraunces Extra Bold" pitchFamily="34" charset="-122"/>
                <a:cs typeface="Fraunces Extra Bold" pitchFamily="34" charset="-120"/>
              </a:rPr>
              <a:t>(2001–2024)</a:t>
            </a:r>
            <a:endParaRPr lang="en-US" sz="3900" i="1" dirty="0"/>
          </a:p>
        </p:txBody>
      </p:sp>
      <p:sp>
        <p:nvSpPr>
          <p:cNvPr id="5" name="TextBox 4">
            <a:extLst>
              <a:ext uri="{FF2B5EF4-FFF2-40B4-BE49-F238E27FC236}">
                <a16:creationId xmlns:a16="http://schemas.microsoft.com/office/drawing/2014/main" id="{F25A256D-581F-6BE1-3D34-B44EB9B730DD}"/>
              </a:ext>
            </a:extLst>
          </p:cNvPr>
          <p:cNvSpPr txBox="1"/>
          <p:nvPr/>
        </p:nvSpPr>
        <p:spPr>
          <a:xfrm>
            <a:off x="2206255" y="4929594"/>
            <a:ext cx="4077587" cy="646331"/>
          </a:xfrm>
          <a:prstGeom prst="rect">
            <a:avLst/>
          </a:prstGeom>
          <a:noFill/>
        </p:spPr>
        <p:txBody>
          <a:bodyPr wrap="square">
            <a:spAutoFit/>
          </a:bodyPr>
          <a:lstStyle/>
          <a:p>
            <a:pPr algn="ctr"/>
            <a:r>
              <a:rPr lang="en-US" sz="3600" b="1" dirty="0">
                <a:solidFill>
                  <a:schemeClr val="accent6">
                    <a:lumMod val="50000"/>
                  </a:schemeClr>
                </a:solidFill>
              </a:rPr>
              <a:t>Noor Ul Ain Zahid</a:t>
            </a:r>
          </a:p>
        </p:txBody>
      </p:sp>
      <p:sp>
        <p:nvSpPr>
          <p:cNvPr id="7" name="TextBox 6">
            <a:extLst>
              <a:ext uri="{FF2B5EF4-FFF2-40B4-BE49-F238E27FC236}">
                <a16:creationId xmlns:a16="http://schemas.microsoft.com/office/drawing/2014/main" id="{CF45415B-5B88-B59E-0943-A177BE9D5FF8}"/>
              </a:ext>
            </a:extLst>
          </p:cNvPr>
          <p:cNvSpPr txBox="1"/>
          <p:nvPr/>
        </p:nvSpPr>
        <p:spPr>
          <a:xfrm>
            <a:off x="634301" y="3930134"/>
            <a:ext cx="10338499" cy="707886"/>
          </a:xfrm>
          <a:prstGeom prst="rect">
            <a:avLst/>
          </a:prstGeom>
          <a:noFill/>
        </p:spPr>
        <p:txBody>
          <a:bodyPr wrap="square">
            <a:spAutoFit/>
          </a:bodyPr>
          <a:lstStyle/>
          <a:p>
            <a:r>
              <a:rPr lang="en-US" sz="4000" b="1" u="sng" dirty="0">
                <a:solidFill>
                  <a:schemeClr val="accent6">
                    <a:lumMod val="50000"/>
                  </a:schemeClr>
                </a:solidFill>
              </a:rPr>
              <a:t>Prepared by: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350211" y="0"/>
            <a:ext cx="6280189" cy="8229600"/>
          </a:xfrm>
          <a:prstGeom prst="rect">
            <a:avLst/>
          </a:prstGeom>
        </p:spPr>
      </p:pic>
      <p:sp>
        <p:nvSpPr>
          <p:cNvPr id="3" name="Text 0"/>
          <p:cNvSpPr/>
          <p:nvPr/>
        </p:nvSpPr>
        <p:spPr>
          <a:xfrm>
            <a:off x="793790" y="2122884"/>
            <a:ext cx="7556421" cy="1240155"/>
          </a:xfrm>
          <a:prstGeom prst="rect">
            <a:avLst/>
          </a:prstGeom>
          <a:noFill/>
          <a:ln/>
        </p:spPr>
        <p:txBody>
          <a:bodyPr wrap="square" lIns="0" tIns="0" rIns="0" bIns="0" rtlCol="0" anchor="t"/>
          <a:lstStyle/>
          <a:p>
            <a:pPr marL="0" indent="0" algn="l">
              <a:lnSpc>
                <a:spcPts val="4850"/>
              </a:lnSpc>
              <a:buNone/>
            </a:pPr>
            <a:r>
              <a:rPr lang="en-US" sz="3900" b="1" dirty="0">
                <a:solidFill>
                  <a:srgbClr val="3B4540"/>
                </a:solidFill>
                <a:latin typeface="Fraunces Extra Bold" pitchFamily="34" charset="0"/>
                <a:ea typeface="Fraunces Extra Bold" pitchFamily="34" charset="-122"/>
                <a:cs typeface="Fraunces Extra Bold" pitchFamily="34" charset="-120"/>
              </a:rPr>
              <a:t>Introduction: Interest Rates and Investment in Pakistan</a:t>
            </a:r>
            <a:endParaRPr lang="en-US" sz="3900" dirty="0"/>
          </a:p>
        </p:txBody>
      </p:sp>
      <p:sp>
        <p:nvSpPr>
          <p:cNvPr id="4" name="Text 1"/>
          <p:cNvSpPr/>
          <p:nvPr/>
        </p:nvSpPr>
        <p:spPr>
          <a:xfrm>
            <a:off x="793790" y="3660696"/>
            <a:ext cx="7556421" cy="1270159"/>
          </a:xfrm>
          <a:prstGeom prst="rect">
            <a:avLst/>
          </a:prstGeom>
          <a:noFill/>
          <a:ln/>
        </p:spPr>
        <p:txBody>
          <a:bodyPr wrap="square" lIns="0" tIns="0" rIns="0" bIns="0" rtlCol="0" anchor="t"/>
          <a:lstStyle/>
          <a:p>
            <a:pPr marL="0" indent="0" algn="l">
              <a:lnSpc>
                <a:spcPts val="2500"/>
              </a:lnSpc>
              <a:buNone/>
            </a:pPr>
            <a:r>
              <a:rPr lang="en-US" sz="1550" dirty="0">
                <a:solidFill>
                  <a:srgbClr val="405449"/>
                </a:solidFill>
                <a:latin typeface="Nobile" pitchFamily="34" charset="0"/>
                <a:ea typeface="Nobile" pitchFamily="34" charset="-122"/>
                <a:cs typeface="Nobile" pitchFamily="34" charset="-120"/>
              </a:rPr>
              <a:t>This study investigates the relationship between interest rates and investment in Pakistan from 2001 to 2024. Investment, measured by Gross Capital Formation (GCF), is crucial for economic growth, driving the creation of factories, machines, and jobs.</a:t>
            </a:r>
            <a:endParaRPr lang="en-US" sz="1550" dirty="0"/>
          </a:p>
        </p:txBody>
      </p:sp>
      <p:sp>
        <p:nvSpPr>
          <p:cNvPr id="5" name="Text 2"/>
          <p:cNvSpPr/>
          <p:nvPr/>
        </p:nvSpPr>
        <p:spPr>
          <a:xfrm>
            <a:off x="793790" y="5154097"/>
            <a:ext cx="7556421" cy="952619"/>
          </a:xfrm>
          <a:prstGeom prst="rect">
            <a:avLst/>
          </a:prstGeom>
          <a:noFill/>
          <a:ln/>
        </p:spPr>
        <p:txBody>
          <a:bodyPr wrap="square" lIns="0" tIns="0" rIns="0" bIns="0" rtlCol="0" anchor="t"/>
          <a:lstStyle/>
          <a:p>
            <a:pPr marL="0" indent="0" algn="l">
              <a:lnSpc>
                <a:spcPts val="2500"/>
              </a:lnSpc>
              <a:buNone/>
            </a:pPr>
            <a:r>
              <a:rPr lang="en-US" sz="1550" dirty="0">
                <a:solidFill>
                  <a:srgbClr val="405449"/>
                </a:solidFill>
                <a:latin typeface="Nobile" pitchFamily="34" charset="0"/>
                <a:ea typeface="Nobile" pitchFamily="34" charset="-122"/>
                <a:cs typeface="Nobile" pitchFamily="34" charset="-120"/>
              </a:rPr>
              <a:t>The primary objective is to determine if a causal relationship exists between changes in the average interest rate and GCF growth, and whether these changes facilitate or hinder business investment.</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1310759"/>
            <a:ext cx="7556421" cy="1240155"/>
          </a:xfrm>
          <a:prstGeom prst="rect">
            <a:avLst/>
          </a:prstGeom>
          <a:noFill/>
          <a:ln/>
        </p:spPr>
        <p:txBody>
          <a:bodyPr wrap="square" lIns="0" tIns="0" rIns="0" bIns="0" rtlCol="0" anchor="t"/>
          <a:lstStyle/>
          <a:p>
            <a:pPr marL="0" indent="0" algn="l">
              <a:lnSpc>
                <a:spcPts val="4850"/>
              </a:lnSpc>
              <a:buNone/>
            </a:pPr>
            <a:r>
              <a:rPr lang="en-US" sz="3900" b="1" dirty="0">
                <a:solidFill>
                  <a:srgbClr val="3B4540"/>
                </a:solidFill>
                <a:latin typeface="Fraunces Extra Bold" pitchFamily="34" charset="0"/>
                <a:ea typeface="Fraunces Extra Bold" pitchFamily="34" charset="-122"/>
                <a:cs typeface="Fraunces Extra Bold" pitchFamily="34" charset="-120"/>
              </a:rPr>
              <a:t>Hypothesis: Interest Rate's Effect on Capital Formation</a:t>
            </a:r>
            <a:endParaRPr lang="en-US" sz="3900" dirty="0"/>
          </a:p>
        </p:txBody>
      </p:sp>
      <p:sp>
        <p:nvSpPr>
          <p:cNvPr id="4" name="Shape 1"/>
          <p:cNvSpPr/>
          <p:nvPr/>
        </p:nvSpPr>
        <p:spPr>
          <a:xfrm>
            <a:off x="6280190" y="2848570"/>
            <a:ext cx="7556421" cy="1506736"/>
          </a:xfrm>
          <a:prstGeom prst="roundRect">
            <a:avLst>
              <a:gd name="adj" fmla="val 7282"/>
            </a:avLst>
          </a:prstGeom>
          <a:solidFill>
            <a:srgbClr val="FAFFFA"/>
          </a:solidFill>
          <a:ln w="22860">
            <a:solidFill>
              <a:srgbClr val="CED9CE"/>
            </a:solidFill>
            <a:prstDash val="solid"/>
          </a:ln>
        </p:spPr>
      </p:sp>
      <p:sp>
        <p:nvSpPr>
          <p:cNvPr id="5" name="Shape 2"/>
          <p:cNvSpPr/>
          <p:nvPr/>
        </p:nvSpPr>
        <p:spPr>
          <a:xfrm>
            <a:off x="6257330" y="2848570"/>
            <a:ext cx="91440" cy="1506736"/>
          </a:xfrm>
          <a:prstGeom prst="roundRect">
            <a:avLst>
              <a:gd name="adj" fmla="val 195349"/>
            </a:avLst>
          </a:prstGeom>
          <a:solidFill>
            <a:srgbClr val="438951"/>
          </a:solidFill>
          <a:ln/>
        </p:spPr>
      </p:sp>
      <p:sp>
        <p:nvSpPr>
          <p:cNvPr id="6" name="Text 3"/>
          <p:cNvSpPr/>
          <p:nvPr/>
        </p:nvSpPr>
        <p:spPr>
          <a:xfrm>
            <a:off x="6569988" y="3069788"/>
            <a:ext cx="2653784" cy="310158"/>
          </a:xfrm>
          <a:prstGeom prst="rect">
            <a:avLst/>
          </a:prstGeom>
          <a:noFill/>
          <a:ln/>
        </p:spPr>
        <p:txBody>
          <a:bodyPr wrap="none" lIns="0" tIns="0" rIns="0" bIns="0" rtlCol="0" anchor="t"/>
          <a:lstStyle/>
          <a:p>
            <a:pPr marL="0" indent="0" algn="l">
              <a:lnSpc>
                <a:spcPts val="2400"/>
              </a:lnSpc>
              <a:buNone/>
            </a:pPr>
            <a:r>
              <a:rPr lang="en-US" sz="1950" b="1" dirty="0">
                <a:solidFill>
                  <a:srgbClr val="405449"/>
                </a:solidFill>
                <a:latin typeface="Fraunces Extra Bold" pitchFamily="34" charset="0"/>
                <a:ea typeface="Fraunces Extra Bold" pitchFamily="34" charset="-122"/>
                <a:cs typeface="Fraunces Extra Bold" pitchFamily="34" charset="-120"/>
              </a:rPr>
              <a:t>Null Hypothesis (H0)</a:t>
            </a:r>
            <a:endParaRPr lang="en-US" sz="1950" dirty="0"/>
          </a:p>
        </p:txBody>
      </p:sp>
      <p:sp>
        <p:nvSpPr>
          <p:cNvPr id="7" name="Text 4"/>
          <p:cNvSpPr/>
          <p:nvPr/>
        </p:nvSpPr>
        <p:spPr>
          <a:xfrm>
            <a:off x="6569988" y="3499009"/>
            <a:ext cx="7045404" cy="635079"/>
          </a:xfrm>
          <a:prstGeom prst="rect">
            <a:avLst/>
          </a:prstGeom>
          <a:noFill/>
          <a:ln/>
        </p:spPr>
        <p:txBody>
          <a:bodyPr wrap="square" lIns="0" tIns="0" rIns="0" bIns="0" rtlCol="0" anchor="t"/>
          <a:lstStyle/>
          <a:p>
            <a:pPr marL="0" indent="0" algn="l">
              <a:lnSpc>
                <a:spcPts val="2500"/>
              </a:lnSpc>
              <a:buNone/>
            </a:pPr>
            <a:r>
              <a:rPr lang="en-US" sz="1550" dirty="0">
                <a:solidFill>
                  <a:srgbClr val="405449"/>
                </a:solidFill>
                <a:latin typeface="Nobile" pitchFamily="34" charset="0"/>
                <a:ea typeface="Nobile" pitchFamily="34" charset="-122"/>
                <a:cs typeface="Nobile" pitchFamily="34" charset="-120"/>
              </a:rPr>
              <a:t>The Average Interest Rate has no statistically significant effect on Gross Capital Formation Growth (β1 = 0).</a:t>
            </a:r>
            <a:endParaRPr lang="en-US" sz="1550" dirty="0"/>
          </a:p>
        </p:txBody>
      </p:sp>
      <p:sp>
        <p:nvSpPr>
          <p:cNvPr id="8" name="Shape 5"/>
          <p:cNvSpPr/>
          <p:nvPr/>
        </p:nvSpPr>
        <p:spPr>
          <a:xfrm>
            <a:off x="6280190" y="4553664"/>
            <a:ext cx="7556421" cy="1506736"/>
          </a:xfrm>
          <a:prstGeom prst="roundRect">
            <a:avLst>
              <a:gd name="adj" fmla="val 7282"/>
            </a:avLst>
          </a:prstGeom>
          <a:solidFill>
            <a:srgbClr val="FAFFFA"/>
          </a:solidFill>
          <a:ln w="22860">
            <a:solidFill>
              <a:srgbClr val="CED9CE"/>
            </a:solidFill>
            <a:prstDash val="solid"/>
          </a:ln>
        </p:spPr>
      </p:sp>
      <p:sp>
        <p:nvSpPr>
          <p:cNvPr id="9" name="Shape 6"/>
          <p:cNvSpPr/>
          <p:nvPr/>
        </p:nvSpPr>
        <p:spPr>
          <a:xfrm>
            <a:off x="6257330" y="4553664"/>
            <a:ext cx="91440" cy="1506736"/>
          </a:xfrm>
          <a:prstGeom prst="roundRect">
            <a:avLst>
              <a:gd name="adj" fmla="val 195349"/>
            </a:avLst>
          </a:prstGeom>
          <a:solidFill>
            <a:srgbClr val="438951"/>
          </a:solidFill>
          <a:ln/>
        </p:spPr>
      </p:sp>
      <p:sp>
        <p:nvSpPr>
          <p:cNvPr id="10" name="Text 7"/>
          <p:cNvSpPr/>
          <p:nvPr/>
        </p:nvSpPr>
        <p:spPr>
          <a:xfrm>
            <a:off x="6569988" y="4774883"/>
            <a:ext cx="3504843" cy="310158"/>
          </a:xfrm>
          <a:prstGeom prst="rect">
            <a:avLst/>
          </a:prstGeom>
          <a:noFill/>
          <a:ln/>
        </p:spPr>
        <p:txBody>
          <a:bodyPr wrap="none" lIns="0" tIns="0" rIns="0" bIns="0" rtlCol="0" anchor="t"/>
          <a:lstStyle/>
          <a:p>
            <a:pPr marL="0" indent="0" algn="l">
              <a:lnSpc>
                <a:spcPts val="2400"/>
              </a:lnSpc>
              <a:buNone/>
            </a:pPr>
            <a:r>
              <a:rPr lang="en-US" sz="1950" b="1" dirty="0">
                <a:solidFill>
                  <a:srgbClr val="405449"/>
                </a:solidFill>
                <a:latin typeface="Fraunces Extra Bold" pitchFamily="34" charset="0"/>
                <a:ea typeface="Fraunces Extra Bold" pitchFamily="34" charset="-122"/>
                <a:cs typeface="Fraunces Extra Bold" pitchFamily="34" charset="-120"/>
              </a:rPr>
              <a:t>Alternative Hypothesis (H1)</a:t>
            </a:r>
            <a:endParaRPr lang="en-US" sz="1950" dirty="0"/>
          </a:p>
        </p:txBody>
      </p:sp>
      <p:sp>
        <p:nvSpPr>
          <p:cNvPr id="11" name="Text 8"/>
          <p:cNvSpPr/>
          <p:nvPr/>
        </p:nvSpPr>
        <p:spPr>
          <a:xfrm>
            <a:off x="6569988" y="5204103"/>
            <a:ext cx="7045404" cy="635079"/>
          </a:xfrm>
          <a:prstGeom prst="rect">
            <a:avLst/>
          </a:prstGeom>
          <a:noFill/>
          <a:ln/>
        </p:spPr>
        <p:txBody>
          <a:bodyPr wrap="square" lIns="0" tIns="0" rIns="0" bIns="0" rtlCol="0" anchor="t"/>
          <a:lstStyle/>
          <a:p>
            <a:pPr marL="0" indent="0" algn="l">
              <a:lnSpc>
                <a:spcPts val="2500"/>
              </a:lnSpc>
              <a:buNone/>
            </a:pPr>
            <a:r>
              <a:rPr lang="en-US" sz="1550" dirty="0">
                <a:solidFill>
                  <a:srgbClr val="405449"/>
                </a:solidFill>
                <a:latin typeface="Nobile" pitchFamily="34" charset="0"/>
                <a:ea typeface="Nobile" pitchFamily="34" charset="-122"/>
                <a:cs typeface="Nobile" pitchFamily="34" charset="-120"/>
              </a:rPr>
              <a:t>The Average Interest Rate has a statistically significant negative effect on Gross Capital Formation Growth (β1 ≠ 0).</a:t>
            </a:r>
            <a:endParaRPr lang="en-US" sz="1550" dirty="0"/>
          </a:p>
        </p:txBody>
      </p:sp>
      <p:sp>
        <p:nvSpPr>
          <p:cNvPr id="12" name="Text 9"/>
          <p:cNvSpPr/>
          <p:nvPr/>
        </p:nvSpPr>
        <p:spPr>
          <a:xfrm>
            <a:off x="6280190" y="6283643"/>
            <a:ext cx="7556421" cy="635079"/>
          </a:xfrm>
          <a:prstGeom prst="rect">
            <a:avLst/>
          </a:prstGeom>
          <a:noFill/>
          <a:ln/>
        </p:spPr>
        <p:txBody>
          <a:bodyPr wrap="square" lIns="0" tIns="0" rIns="0" bIns="0" rtlCol="0" anchor="t"/>
          <a:lstStyle/>
          <a:p>
            <a:pPr marL="0" indent="0" algn="l">
              <a:lnSpc>
                <a:spcPts val="2500"/>
              </a:lnSpc>
              <a:buNone/>
            </a:pPr>
            <a:r>
              <a:rPr lang="en-US" sz="1550" dirty="0">
                <a:solidFill>
                  <a:srgbClr val="405449"/>
                </a:solidFill>
                <a:latin typeface="Nobile" pitchFamily="34" charset="0"/>
                <a:ea typeface="Nobile" pitchFamily="34" charset="-122"/>
                <a:cs typeface="Nobile" pitchFamily="34" charset="-120"/>
              </a:rPr>
              <a:t>Our model for analysis is: Capital Formation Growth = β₀ + β₁ (Average Interest Rate) + ε</a:t>
            </a:r>
            <a:endParaRPr lang="en-US" sz="1550" dirty="0"/>
          </a:p>
        </p:txBody>
      </p:sp>
      <p:sp>
        <p:nvSpPr>
          <p:cNvPr id="13" name="Rectangle 12">
            <a:extLst>
              <a:ext uri="{FF2B5EF4-FFF2-40B4-BE49-F238E27FC236}">
                <a16:creationId xmlns:a16="http://schemas.microsoft.com/office/drawing/2014/main" id="{07F26B0B-767D-24EC-38B4-7AD2AA44B19C}"/>
              </a:ext>
            </a:extLst>
          </p:cNvPr>
          <p:cNvSpPr/>
          <p:nvPr/>
        </p:nvSpPr>
        <p:spPr>
          <a:xfrm>
            <a:off x="0" y="7730550"/>
            <a:ext cx="14630400" cy="499049"/>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25">
              <a:solidFill>
                <a:schemeClr val="accent6">
                  <a:lumMod val="20000"/>
                  <a:lumOff val="80000"/>
                </a:schemeClr>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nvSpPr>
        <p:spPr>
          <a:xfrm>
            <a:off x="793790" y="4087058"/>
            <a:ext cx="4961811" cy="620078"/>
          </a:xfrm>
          <a:prstGeom prst="rect">
            <a:avLst/>
          </a:prstGeom>
          <a:noFill/>
          <a:ln/>
        </p:spPr>
        <p:txBody>
          <a:bodyPr wrap="none" lIns="0" tIns="0" rIns="0" bIns="0" rtlCol="0" anchor="t"/>
          <a:lstStyle/>
          <a:p>
            <a:pPr marL="0" indent="0" algn="l">
              <a:lnSpc>
                <a:spcPts val="4850"/>
              </a:lnSpc>
              <a:buNone/>
            </a:pPr>
            <a:endParaRPr lang="en-US" sz="3900" dirty="0"/>
          </a:p>
        </p:txBody>
      </p:sp>
      <p:pic>
        <p:nvPicPr>
          <p:cNvPr id="4"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09399" y="451859"/>
            <a:ext cx="496133" cy="496133"/>
          </a:xfrm>
          <a:prstGeom prst="rect">
            <a:avLst/>
          </a:prstGeom>
        </p:spPr>
      </p:pic>
      <p:sp>
        <p:nvSpPr>
          <p:cNvPr id="5" name="Text 1"/>
          <p:cNvSpPr/>
          <p:nvPr/>
        </p:nvSpPr>
        <p:spPr>
          <a:xfrm>
            <a:off x="4089743" y="637953"/>
            <a:ext cx="5692209" cy="620079"/>
          </a:xfrm>
          <a:prstGeom prst="rect">
            <a:avLst/>
          </a:prstGeom>
          <a:noFill/>
          <a:ln/>
        </p:spPr>
        <p:txBody>
          <a:bodyPr wrap="none" lIns="0" tIns="0" rIns="0" bIns="0" rtlCol="0" anchor="t"/>
          <a:lstStyle/>
          <a:p>
            <a:pPr marL="0" indent="0" algn="l">
              <a:lnSpc>
                <a:spcPts val="2400"/>
              </a:lnSpc>
              <a:buNone/>
            </a:pPr>
            <a:r>
              <a:rPr lang="en-US" sz="4000" b="1" dirty="0">
                <a:solidFill>
                  <a:srgbClr val="405449"/>
                </a:solidFill>
                <a:latin typeface="Franklin Gothic Demi" panose="020B0703020102020204" pitchFamily="34" charset="0"/>
                <a:ea typeface="Fraunces Extra Bold" pitchFamily="34" charset="-122"/>
                <a:cs typeface="Fraunces Extra Bold" pitchFamily="34" charset="-120"/>
              </a:rPr>
              <a:t>State Bank of Pakistan</a:t>
            </a:r>
            <a:endParaRPr lang="en-US" sz="4000" dirty="0">
              <a:latin typeface="Franklin Gothic Demi" panose="020B0703020102020204" pitchFamily="34" charset="0"/>
            </a:endParaRPr>
          </a:p>
        </p:txBody>
      </p:sp>
      <p:sp>
        <p:nvSpPr>
          <p:cNvPr id="6" name="Text 2"/>
          <p:cNvSpPr/>
          <p:nvPr/>
        </p:nvSpPr>
        <p:spPr>
          <a:xfrm>
            <a:off x="631639" y="3625702"/>
            <a:ext cx="4159326" cy="1081434"/>
          </a:xfrm>
          <a:prstGeom prst="rect">
            <a:avLst/>
          </a:prstGeom>
          <a:noFill/>
          <a:ln/>
        </p:spPr>
        <p:txBody>
          <a:bodyPr wrap="square" lIns="0" tIns="0" rIns="0" bIns="0" rtlCol="0" anchor="t"/>
          <a:lstStyle/>
          <a:p>
            <a:pPr marL="0" indent="0" algn="l">
              <a:lnSpc>
                <a:spcPts val="2500"/>
              </a:lnSpc>
              <a:buNone/>
            </a:pPr>
            <a:r>
              <a:rPr lang="en-US" dirty="0">
                <a:solidFill>
                  <a:srgbClr val="405449"/>
                </a:solidFill>
                <a:latin typeface="+mj-lt"/>
                <a:ea typeface="Nobile" pitchFamily="34" charset="-122"/>
                <a:cs typeface="Nobile" pitchFamily="34" charset="-120"/>
              </a:rPr>
              <a:t>Average interest rate data for 2001–2024 were collected from the official website of the State Bank of Pakistan.</a:t>
            </a:r>
            <a:endParaRPr lang="en-US" dirty="0">
              <a:latin typeface="+mj-lt"/>
            </a:endParaRPr>
          </a:p>
        </p:txBody>
      </p:sp>
      <p:pic>
        <p:nvPicPr>
          <p:cNvPr id="12" name="Picture 11">
            <a:extLst>
              <a:ext uri="{FF2B5EF4-FFF2-40B4-BE49-F238E27FC236}">
                <a16:creationId xmlns:a16="http://schemas.microsoft.com/office/drawing/2014/main" id="{2660D34B-DD6A-F7CA-59E3-E82211646A35}"/>
              </a:ext>
            </a:extLst>
          </p:cNvPr>
          <p:cNvPicPr>
            <a:picLocks noChangeAspect="1"/>
          </p:cNvPicPr>
          <p:nvPr/>
        </p:nvPicPr>
        <p:blipFill>
          <a:blip r:embed="rId5"/>
          <a:stretch>
            <a:fillRect/>
          </a:stretch>
        </p:blipFill>
        <p:spPr>
          <a:xfrm>
            <a:off x="5741448" y="2636875"/>
            <a:ext cx="8081008" cy="4880344"/>
          </a:xfrm>
          <a:prstGeom prst="rect">
            <a:avLst/>
          </a:prstGeom>
          <a:ln>
            <a:noFill/>
          </a:ln>
          <a:effectLst>
            <a:outerShdw blurRad="292100" dist="139700" dir="2700000" algn="tl" rotWithShape="0">
              <a:srgbClr val="333333">
                <a:alpha val="65000"/>
              </a:srgbClr>
            </a:outerShdw>
          </a:effectLst>
        </p:spPr>
      </p:pic>
      <p:sp>
        <p:nvSpPr>
          <p:cNvPr id="14" name="TextBox 13">
            <a:extLst>
              <a:ext uri="{FF2B5EF4-FFF2-40B4-BE49-F238E27FC236}">
                <a16:creationId xmlns:a16="http://schemas.microsoft.com/office/drawing/2014/main" id="{32FE2586-7B47-EF3E-236D-0E736E761D30}"/>
              </a:ext>
            </a:extLst>
          </p:cNvPr>
          <p:cNvSpPr txBox="1"/>
          <p:nvPr/>
        </p:nvSpPr>
        <p:spPr>
          <a:xfrm>
            <a:off x="2711302" y="1258032"/>
            <a:ext cx="8261498" cy="923330"/>
          </a:xfrm>
          <a:prstGeom prst="rect">
            <a:avLst/>
          </a:prstGeom>
          <a:noFill/>
        </p:spPr>
        <p:txBody>
          <a:bodyPr wrap="square">
            <a:spAutoFit/>
          </a:bodyPr>
          <a:lstStyle/>
          <a:p>
            <a:r>
              <a:rPr lang="en-US" sz="18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6"/>
              </a:rPr>
              <a:t>https://easydata.sbp.org.pk/apex/f?p=10:211:11417931055048::NO:RP:P211_DATASET_TYPE_CODE,P211_PAGE_ID:TS_GP_IR_SIRPR_AH,1&amp;cs=1DBDF9690B5B7F30897BB1F56DA14DABF</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endParaRPr lang="en-US" dirty="0"/>
          </a:p>
        </p:txBody>
      </p:sp>
      <p:sp>
        <p:nvSpPr>
          <p:cNvPr id="15" name="Rectangle 14">
            <a:extLst>
              <a:ext uri="{FF2B5EF4-FFF2-40B4-BE49-F238E27FC236}">
                <a16:creationId xmlns:a16="http://schemas.microsoft.com/office/drawing/2014/main" id="{752EC932-5AA1-1E40-0FCA-42F5393F049D}"/>
              </a:ext>
            </a:extLst>
          </p:cNvPr>
          <p:cNvSpPr/>
          <p:nvPr/>
        </p:nvSpPr>
        <p:spPr>
          <a:xfrm>
            <a:off x="0" y="7730550"/>
            <a:ext cx="14630400" cy="499049"/>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25">
              <a:solidFill>
                <a:schemeClr val="accent6">
                  <a:lumMod val="20000"/>
                  <a:lumOff val="80000"/>
                </a:schemeClr>
              </a:solidFill>
            </a:endParaRPr>
          </a:p>
        </p:txBody>
      </p:sp>
      <p:sp>
        <p:nvSpPr>
          <p:cNvPr id="7" name="TextBox 6">
            <a:extLst>
              <a:ext uri="{FF2B5EF4-FFF2-40B4-BE49-F238E27FC236}">
                <a16:creationId xmlns:a16="http://schemas.microsoft.com/office/drawing/2014/main" id="{CBC25770-8907-4D7A-8EBF-153E41DAA307}"/>
              </a:ext>
            </a:extLst>
          </p:cNvPr>
          <p:cNvSpPr txBox="1"/>
          <p:nvPr/>
        </p:nvSpPr>
        <p:spPr>
          <a:xfrm>
            <a:off x="244549" y="3172445"/>
            <a:ext cx="4694274" cy="376065"/>
          </a:xfrm>
          <a:prstGeom prst="rect">
            <a:avLst/>
          </a:prstGeom>
          <a:noFill/>
        </p:spPr>
        <p:txBody>
          <a:bodyPr wrap="square">
            <a:spAutoFit/>
          </a:bodyPr>
          <a:lstStyle/>
          <a:p>
            <a:pPr marL="0" indent="0" algn="l">
              <a:lnSpc>
                <a:spcPts val="2500"/>
              </a:lnSpc>
              <a:buNone/>
            </a:pPr>
            <a:r>
              <a:rPr lang="en-US" sz="2000" b="1" dirty="0">
                <a:solidFill>
                  <a:srgbClr val="405449"/>
                </a:solidFill>
                <a:latin typeface="MS UI Gothic" panose="020B0600070205080204" pitchFamily="34" charset="-128"/>
                <a:ea typeface="MS UI Gothic" panose="020B0600070205080204" pitchFamily="34" charset="-128"/>
                <a:cs typeface="Nobile" pitchFamily="34" charset="-120"/>
              </a:rPr>
              <a:t>INTEREST RATE</a:t>
            </a:r>
            <a:endParaRPr lang="en-US" sz="2000" b="1" dirty="0">
              <a:latin typeface="MS UI Gothic" panose="020B0600070205080204" pitchFamily="34" charset="-128"/>
              <a:ea typeface="MS UI Gothic" panose="020B0600070205080204" pitchFamily="34" charset="-128"/>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964D669-6673-C3E7-B623-7BD4F96813A8}"/>
              </a:ext>
            </a:extLst>
          </p:cNvPr>
          <p:cNvSpPr txBox="1"/>
          <p:nvPr/>
        </p:nvSpPr>
        <p:spPr>
          <a:xfrm>
            <a:off x="3466214" y="988559"/>
            <a:ext cx="7315200" cy="441146"/>
          </a:xfrm>
          <a:prstGeom prst="rect">
            <a:avLst/>
          </a:prstGeom>
          <a:noFill/>
        </p:spPr>
        <p:txBody>
          <a:bodyPr wrap="square">
            <a:spAutoFit/>
          </a:bodyPr>
          <a:lstStyle/>
          <a:p>
            <a:pPr marL="0" indent="0" algn="ctr">
              <a:lnSpc>
                <a:spcPts val="2400"/>
              </a:lnSpc>
              <a:buNone/>
            </a:pPr>
            <a:r>
              <a:rPr lang="en-US" sz="4000" b="1" dirty="0">
                <a:solidFill>
                  <a:srgbClr val="405449"/>
                </a:solidFill>
                <a:latin typeface="Franklin Gothic Demi" panose="020B0703020102020204" pitchFamily="34" charset="0"/>
                <a:ea typeface="Fraunces Extra Bold" pitchFamily="34" charset="-122"/>
                <a:cs typeface="Fraunces Extra Bold" pitchFamily="34" charset="-120"/>
              </a:rPr>
              <a:t>World Bank Database</a:t>
            </a:r>
          </a:p>
        </p:txBody>
      </p:sp>
      <p:pic>
        <p:nvPicPr>
          <p:cNvPr id="4" name="Picture 3">
            <a:extLst>
              <a:ext uri="{FF2B5EF4-FFF2-40B4-BE49-F238E27FC236}">
                <a16:creationId xmlns:a16="http://schemas.microsoft.com/office/drawing/2014/main" id="{404590BF-B9FF-41D0-A31D-4FDEABC3549F}"/>
              </a:ext>
            </a:extLst>
          </p:cNvPr>
          <p:cNvPicPr>
            <a:picLocks noChangeAspect="1"/>
          </p:cNvPicPr>
          <p:nvPr/>
        </p:nvPicPr>
        <p:blipFill>
          <a:blip r:embed="rId2"/>
          <a:stretch>
            <a:fillRect/>
          </a:stretch>
        </p:blipFill>
        <p:spPr>
          <a:xfrm>
            <a:off x="5539562" y="2651057"/>
            <a:ext cx="7868093" cy="4675046"/>
          </a:xfrm>
          <a:prstGeom prst="rect">
            <a:avLst/>
          </a:prstGeom>
          <a:ln>
            <a:noFill/>
          </a:ln>
          <a:effectLst>
            <a:outerShdw blurRad="292100" dist="139700" dir="2700000" algn="tl" rotWithShape="0">
              <a:srgbClr val="333333">
                <a:alpha val="65000"/>
              </a:srgbClr>
            </a:outerShdw>
          </a:effectLst>
        </p:spPr>
      </p:pic>
      <p:sp>
        <p:nvSpPr>
          <p:cNvPr id="6" name="TextBox 5">
            <a:extLst>
              <a:ext uri="{FF2B5EF4-FFF2-40B4-BE49-F238E27FC236}">
                <a16:creationId xmlns:a16="http://schemas.microsoft.com/office/drawing/2014/main" id="{D7FD3AB6-8E7A-61F7-933B-1AAE564398BD}"/>
              </a:ext>
            </a:extLst>
          </p:cNvPr>
          <p:cNvSpPr txBox="1"/>
          <p:nvPr/>
        </p:nvSpPr>
        <p:spPr>
          <a:xfrm>
            <a:off x="3508744" y="1468199"/>
            <a:ext cx="7315200" cy="392159"/>
          </a:xfrm>
          <a:prstGeom prst="rect">
            <a:avLst/>
          </a:prstGeom>
          <a:noFill/>
        </p:spPr>
        <p:txBody>
          <a:bodyPr wrap="square">
            <a:spAutoFit/>
          </a:bodyPr>
          <a:lstStyle/>
          <a:p>
            <a:pPr marL="0" marR="0">
              <a:lnSpc>
                <a:spcPct val="115000"/>
              </a:lnSpc>
              <a:spcAft>
                <a:spcPts val="800"/>
              </a:spcAft>
              <a:buNone/>
            </a:pPr>
            <a:r>
              <a:rPr lang="en-US" sz="1800" u="sng" kern="100"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3"/>
              </a:rPr>
              <a:t>https://data.worldbank.org/indicator/NE.GDI.TOTL.KD.ZG?locations=PK</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A6E57DBD-4E5E-0DC0-5813-CCF3F5998505}"/>
              </a:ext>
            </a:extLst>
          </p:cNvPr>
          <p:cNvSpPr txBox="1"/>
          <p:nvPr/>
        </p:nvSpPr>
        <p:spPr>
          <a:xfrm>
            <a:off x="659219" y="3807640"/>
            <a:ext cx="3540642" cy="3599703"/>
          </a:xfrm>
          <a:prstGeom prst="rect">
            <a:avLst/>
          </a:prstGeom>
          <a:noFill/>
        </p:spPr>
        <p:txBody>
          <a:bodyPr wrap="square">
            <a:spAutoFit/>
          </a:bodyPr>
          <a:lstStyle/>
          <a:p>
            <a:pPr marL="0" indent="0" algn="l">
              <a:lnSpc>
                <a:spcPts val="2500"/>
              </a:lnSpc>
              <a:buNone/>
            </a:pPr>
            <a:r>
              <a:rPr lang="en-US" dirty="0">
                <a:solidFill>
                  <a:srgbClr val="405449"/>
                </a:solidFill>
                <a:latin typeface="+mj-lt"/>
                <a:ea typeface="Nobile" pitchFamily="34" charset="-122"/>
                <a:cs typeface="Nobile" pitchFamily="34" charset="-120"/>
              </a:rPr>
              <a:t>Gross Capital Formation (investment) data for 2001-2024 period was sourced from the World Bank database.</a:t>
            </a:r>
          </a:p>
          <a:p>
            <a:pPr marL="0" indent="0" algn="l">
              <a:lnSpc>
                <a:spcPts val="2500"/>
              </a:lnSpc>
              <a:buNone/>
            </a:pPr>
            <a:endParaRPr lang="en-US" dirty="0">
              <a:solidFill>
                <a:srgbClr val="405449"/>
              </a:solidFill>
              <a:latin typeface="Nobile" pitchFamily="34" charset="0"/>
            </a:endParaRPr>
          </a:p>
          <a:p>
            <a:pPr marL="0" indent="0" algn="l">
              <a:lnSpc>
                <a:spcPts val="2500"/>
              </a:lnSpc>
              <a:buNone/>
            </a:pPr>
            <a:endParaRPr lang="en-US" dirty="0">
              <a:solidFill>
                <a:srgbClr val="405449"/>
              </a:solidFill>
              <a:latin typeface="Nobile" pitchFamily="34" charset="0"/>
            </a:endParaRPr>
          </a:p>
          <a:p>
            <a:pPr marL="0" indent="0" algn="l">
              <a:lnSpc>
                <a:spcPts val="2500"/>
              </a:lnSpc>
              <a:buNone/>
            </a:pPr>
            <a:endParaRPr lang="en-US" dirty="0">
              <a:solidFill>
                <a:srgbClr val="405449"/>
              </a:solidFill>
              <a:latin typeface="Nobile" pitchFamily="34" charset="0"/>
            </a:endParaRPr>
          </a:p>
          <a:p>
            <a:pPr marL="0" indent="0" algn="l">
              <a:lnSpc>
                <a:spcPts val="2500"/>
              </a:lnSpc>
              <a:buNone/>
            </a:pPr>
            <a:endParaRPr lang="en-US" dirty="0">
              <a:solidFill>
                <a:srgbClr val="405449"/>
              </a:solidFill>
              <a:latin typeface="Nobile" pitchFamily="34" charset="0"/>
            </a:endParaRPr>
          </a:p>
          <a:p>
            <a:pPr marL="0" indent="0" algn="l">
              <a:lnSpc>
                <a:spcPts val="2500"/>
              </a:lnSpc>
              <a:buNone/>
            </a:pPr>
            <a:endParaRPr lang="en-US" dirty="0">
              <a:solidFill>
                <a:srgbClr val="405449"/>
              </a:solidFill>
              <a:latin typeface="Nobile" pitchFamily="34" charset="0"/>
            </a:endParaRPr>
          </a:p>
          <a:p>
            <a:pPr marL="0" indent="0" algn="l">
              <a:lnSpc>
                <a:spcPts val="2500"/>
              </a:lnSpc>
              <a:buNone/>
            </a:pPr>
            <a:endParaRPr lang="en-US" dirty="0">
              <a:solidFill>
                <a:srgbClr val="405449"/>
              </a:solidFill>
              <a:latin typeface="Nobile" pitchFamily="34" charset="0"/>
            </a:endParaRPr>
          </a:p>
          <a:p>
            <a:pPr marL="0" indent="0" algn="ctr">
              <a:lnSpc>
                <a:spcPts val="2500"/>
              </a:lnSpc>
              <a:buNone/>
            </a:pPr>
            <a:endParaRPr lang="en-US" dirty="0"/>
          </a:p>
        </p:txBody>
      </p:sp>
      <p:pic>
        <p:nvPicPr>
          <p:cNvPr id="9" name="Image 2" descr="preencoded.png">
            <a:extLst>
              <a:ext uri="{FF2B5EF4-FFF2-40B4-BE49-F238E27FC236}">
                <a16:creationId xmlns:a16="http://schemas.microsoft.com/office/drawing/2014/main" id="{53193CE5-0D4A-2477-856E-271A59CC8EE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703728" y="822257"/>
            <a:ext cx="496133" cy="496133"/>
          </a:xfrm>
          <a:prstGeom prst="rect">
            <a:avLst/>
          </a:prstGeom>
        </p:spPr>
      </p:pic>
      <p:sp>
        <p:nvSpPr>
          <p:cNvPr id="10" name="Rectangle 9">
            <a:extLst>
              <a:ext uri="{FF2B5EF4-FFF2-40B4-BE49-F238E27FC236}">
                <a16:creationId xmlns:a16="http://schemas.microsoft.com/office/drawing/2014/main" id="{2F70FA4A-2AF3-E8A6-8D51-155B602E67B1}"/>
              </a:ext>
            </a:extLst>
          </p:cNvPr>
          <p:cNvSpPr/>
          <p:nvPr/>
        </p:nvSpPr>
        <p:spPr>
          <a:xfrm>
            <a:off x="0" y="7730550"/>
            <a:ext cx="14630400" cy="499049"/>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25">
              <a:solidFill>
                <a:schemeClr val="accent6">
                  <a:lumMod val="20000"/>
                  <a:lumOff val="80000"/>
                </a:schemeClr>
              </a:solidFill>
            </a:endParaRPr>
          </a:p>
        </p:txBody>
      </p:sp>
      <p:sp>
        <p:nvSpPr>
          <p:cNvPr id="5" name="TextBox 4">
            <a:extLst>
              <a:ext uri="{FF2B5EF4-FFF2-40B4-BE49-F238E27FC236}">
                <a16:creationId xmlns:a16="http://schemas.microsoft.com/office/drawing/2014/main" id="{739830EC-4F48-A299-4B3B-682361F0880C}"/>
              </a:ext>
            </a:extLst>
          </p:cNvPr>
          <p:cNvSpPr txBox="1"/>
          <p:nvPr/>
        </p:nvSpPr>
        <p:spPr>
          <a:xfrm>
            <a:off x="425303" y="3380156"/>
            <a:ext cx="4837813" cy="400110"/>
          </a:xfrm>
          <a:prstGeom prst="rect">
            <a:avLst/>
          </a:prstGeom>
          <a:noFill/>
        </p:spPr>
        <p:txBody>
          <a:bodyPr wrap="square">
            <a:spAutoFit/>
          </a:bodyPr>
          <a:lstStyle/>
          <a:p>
            <a:r>
              <a:rPr lang="en-US" sz="2000" b="1" dirty="0">
                <a:solidFill>
                  <a:srgbClr val="405449"/>
                </a:solidFill>
                <a:latin typeface="Nobile" pitchFamily="34" charset="0"/>
                <a:ea typeface="Nobile" pitchFamily="34" charset="-122"/>
                <a:cs typeface="Nobile" pitchFamily="34" charset="-120"/>
              </a:rPr>
              <a:t>Gross Capital Formation (Investment) </a:t>
            </a:r>
            <a:endParaRPr lang="en-US" sz="2000" b="1" dirty="0"/>
          </a:p>
        </p:txBody>
      </p:sp>
    </p:spTree>
    <p:extLst>
      <p:ext uri="{BB962C8B-B14F-4D97-AF65-F5344CB8AC3E}">
        <p14:creationId xmlns:p14="http://schemas.microsoft.com/office/powerpoint/2010/main" val="22310547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p:nvPr/>
        </p:nvSpPr>
        <p:spPr>
          <a:xfrm>
            <a:off x="4653409" y="304973"/>
            <a:ext cx="4961811" cy="620078"/>
          </a:xfrm>
          <a:prstGeom prst="rect">
            <a:avLst/>
          </a:prstGeom>
          <a:noFill/>
          <a:ln/>
        </p:spPr>
        <p:txBody>
          <a:bodyPr wrap="none" lIns="0" tIns="0" rIns="0" bIns="0" rtlCol="0" anchor="t"/>
          <a:lstStyle/>
          <a:p>
            <a:pPr marL="0" indent="0" algn="l">
              <a:lnSpc>
                <a:spcPts val="4850"/>
              </a:lnSpc>
              <a:buNone/>
            </a:pPr>
            <a:r>
              <a:rPr lang="en-US" sz="3900" b="1" dirty="0">
                <a:solidFill>
                  <a:srgbClr val="3B4540"/>
                </a:solidFill>
                <a:latin typeface="Fraunces Extra Bold" pitchFamily="34" charset="0"/>
                <a:ea typeface="Fraunces Extra Bold" pitchFamily="34" charset="-122"/>
                <a:cs typeface="Fraunces Extra Bold" pitchFamily="34" charset="-120"/>
              </a:rPr>
              <a:t>Diagnostic Plots</a:t>
            </a:r>
            <a:endParaRPr lang="en-US" sz="3900" dirty="0"/>
          </a:p>
        </p:txBody>
      </p:sp>
      <p:sp>
        <p:nvSpPr>
          <p:cNvPr id="4" name="Text 1"/>
          <p:cNvSpPr/>
          <p:nvPr/>
        </p:nvSpPr>
        <p:spPr>
          <a:xfrm>
            <a:off x="6280190" y="3668197"/>
            <a:ext cx="7556421" cy="952619"/>
          </a:xfrm>
          <a:prstGeom prst="rect">
            <a:avLst/>
          </a:prstGeom>
          <a:noFill/>
          <a:ln/>
        </p:spPr>
        <p:txBody>
          <a:bodyPr wrap="square" lIns="0" tIns="0" rIns="0" bIns="0" rtlCol="0" anchor="t"/>
          <a:lstStyle/>
          <a:p>
            <a:pPr marL="0" indent="0" algn="l">
              <a:lnSpc>
                <a:spcPts val="2500"/>
              </a:lnSpc>
              <a:buNone/>
            </a:pPr>
            <a:endParaRPr lang="en-US" sz="1550" dirty="0"/>
          </a:p>
        </p:txBody>
      </p:sp>
      <p:sp>
        <p:nvSpPr>
          <p:cNvPr id="5" name="Text 2"/>
          <p:cNvSpPr/>
          <p:nvPr/>
        </p:nvSpPr>
        <p:spPr>
          <a:xfrm>
            <a:off x="6280190" y="4844058"/>
            <a:ext cx="7556421" cy="635079"/>
          </a:xfrm>
          <a:prstGeom prst="rect">
            <a:avLst/>
          </a:prstGeom>
          <a:noFill/>
          <a:ln/>
        </p:spPr>
        <p:txBody>
          <a:bodyPr wrap="square" lIns="0" tIns="0" rIns="0" bIns="0" rtlCol="0" anchor="t"/>
          <a:lstStyle/>
          <a:p>
            <a:pPr marL="0" indent="0" algn="l">
              <a:lnSpc>
                <a:spcPts val="2500"/>
              </a:lnSpc>
              <a:buNone/>
            </a:pPr>
            <a:endParaRPr lang="en-US" sz="1550" dirty="0"/>
          </a:p>
        </p:txBody>
      </p:sp>
      <p:sp>
        <p:nvSpPr>
          <p:cNvPr id="7" name="Rectangle 6">
            <a:extLst>
              <a:ext uri="{FF2B5EF4-FFF2-40B4-BE49-F238E27FC236}">
                <a16:creationId xmlns:a16="http://schemas.microsoft.com/office/drawing/2014/main" id="{5853F652-1A52-089F-150E-A6D2E0742056}"/>
              </a:ext>
            </a:extLst>
          </p:cNvPr>
          <p:cNvSpPr/>
          <p:nvPr/>
        </p:nvSpPr>
        <p:spPr>
          <a:xfrm>
            <a:off x="0" y="7730550"/>
            <a:ext cx="14630400" cy="499049"/>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25">
              <a:solidFill>
                <a:schemeClr val="accent6">
                  <a:lumMod val="20000"/>
                  <a:lumOff val="80000"/>
                </a:schemeClr>
              </a:solidFill>
            </a:endParaRPr>
          </a:p>
        </p:txBody>
      </p:sp>
      <p:pic>
        <p:nvPicPr>
          <p:cNvPr id="8" name="Picture 7">
            <a:extLst>
              <a:ext uri="{FF2B5EF4-FFF2-40B4-BE49-F238E27FC236}">
                <a16:creationId xmlns:a16="http://schemas.microsoft.com/office/drawing/2014/main" id="{B2475887-A218-CA1D-6B80-B06D0D310A14}"/>
              </a:ext>
            </a:extLst>
          </p:cNvPr>
          <p:cNvPicPr>
            <a:picLocks noChangeAspect="1"/>
          </p:cNvPicPr>
          <p:nvPr/>
        </p:nvPicPr>
        <p:blipFill>
          <a:blip r:embed="rId3"/>
          <a:stretch>
            <a:fillRect/>
          </a:stretch>
        </p:blipFill>
        <p:spPr>
          <a:xfrm>
            <a:off x="1116419" y="1275907"/>
            <a:ext cx="12216809" cy="633700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AB88EEB-31F9-A088-05EB-EA77EE53F4A8}"/>
              </a:ext>
            </a:extLst>
          </p:cNvPr>
          <p:cNvSpPr/>
          <p:nvPr/>
        </p:nvSpPr>
        <p:spPr>
          <a:xfrm>
            <a:off x="0" y="7730550"/>
            <a:ext cx="14630400" cy="499049"/>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25">
              <a:solidFill>
                <a:schemeClr val="accent6">
                  <a:lumMod val="20000"/>
                  <a:lumOff val="80000"/>
                </a:schemeClr>
              </a:solidFill>
            </a:endParaRPr>
          </a:p>
        </p:txBody>
      </p:sp>
      <p:sp>
        <p:nvSpPr>
          <p:cNvPr id="7" name="Text 0">
            <a:extLst>
              <a:ext uri="{FF2B5EF4-FFF2-40B4-BE49-F238E27FC236}">
                <a16:creationId xmlns:a16="http://schemas.microsoft.com/office/drawing/2014/main" id="{C0CD0D35-C676-1F67-327D-0242ABE0B9CB}"/>
              </a:ext>
            </a:extLst>
          </p:cNvPr>
          <p:cNvSpPr/>
          <p:nvPr/>
        </p:nvSpPr>
        <p:spPr>
          <a:xfrm>
            <a:off x="1743740" y="1492447"/>
            <a:ext cx="5252483" cy="2037561"/>
          </a:xfrm>
          <a:prstGeom prst="rect">
            <a:avLst/>
          </a:prstGeom>
          <a:noFill/>
          <a:ln/>
        </p:spPr>
        <p:txBody>
          <a:bodyPr wrap="none" lIns="0" tIns="0" rIns="0" bIns="0" rtlCol="0" anchor="t"/>
          <a:lstStyle/>
          <a:p>
            <a:pPr algn="ctr">
              <a:lnSpc>
                <a:spcPts val="4850"/>
              </a:lnSpc>
            </a:pPr>
            <a:r>
              <a:rPr lang="en-US" sz="4000" b="1">
                <a:latin typeface="Fraunces Extra Bold" panose="020B0604020202020204" charset="0"/>
              </a:rPr>
              <a:t>Outliers in Data</a:t>
            </a:r>
            <a:endParaRPr lang="en-US" sz="3900" b="1" dirty="0">
              <a:latin typeface="Fraunces Extra Bold" panose="020B0604020202020204" charset="0"/>
            </a:endParaRPr>
          </a:p>
        </p:txBody>
      </p:sp>
      <p:pic>
        <p:nvPicPr>
          <p:cNvPr id="9" name="Picture 8">
            <a:extLst>
              <a:ext uri="{FF2B5EF4-FFF2-40B4-BE49-F238E27FC236}">
                <a16:creationId xmlns:a16="http://schemas.microsoft.com/office/drawing/2014/main" id="{3194C01A-30FE-7021-E243-8870636DCD8A}"/>
              </a:ext>
            </a:extLst>
          </p:cNvPr>
          <p:cNvPicPr>
            <a:picLocks noChangeAspect="1"/>
          </p:cNvPicPr>
          <p:nvPr/>
        </p:nvPicPr>
        <p:blipFill>
          <a:blip r:embed="rId2"/>
          <a:stretch>
            <a:fillRect/>
          </a:stretch>
        </p:blipFill>
        <p:spPr>
          <a:xfrm>
            <a:off x="8663630" y="340242"/>
            <a:ext cx="5690323" cy="7155711"/>
          </a:xfrm>
          <a:prstGeom prst="rect">
            <a:avLst/>
          </a:prstGeom>
        </p:spPr>
      </p:pic>
      <p:sp>
        <p:nvSpPr>
          <p:cNvPr id="14" name="Rectangle 3">
            <a:extLst>
              <a:ext uri="{FF2B5EF4-FFF2-40B4-BE49-F238E27FC236}">
                <a16:creationId xmlns:a16="http://schemas.microsoft.com/office/drawing/2014/main" id="{DF5AE932-F7A8-6652-4559-B4494777ED5E}"/>
              </a:ext>
            </a:extLst>
          </p:cNvPr>
          <p:cNvSpPr>
            <a:spLocks noChangeArrowheads="1"/>
          </p:cNvSpPr>
          <p:nvPr/>
        </p:nvSpPr>
        <p:spPr bwMode="auto">
          <a:xfrm rot="10800000" flipV="1">
            <a:off x="510476" y="3163767"/>
            <a:ext cx="7474575" cy="25506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Nobile" panose="020B0604020202020204" charset="0"/>
              </a:rPr>
              <a:t>2006:  </a:t>
            </a:r>
            <a:r>
              <a:rPr kumimoji="0" lang="en-US" altLang="en-US" sz="1800" i="0" u="none" strike="noStrike" cap="none" normalizeH="0" baseline="0" dirty="0">
                <a:ln>
                  <a:noFill/>
                </a:ln>
                <a:solidFill>
                  <a:schemeClr val="tx1"/>
                </a:solidFill>
                <a:effectLst/>
                <a:latin typeface="Nobile" panose="020B0604020202020204" charset="0"/>
              </a:rPr>
              <a:t>Boom due to easy credit &amp; foreign inflows</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Nobile" panose="020B0604020202020204" charset="0"/>
              </a:rPr>
              <a:t>2018:  </a:t>
            </a:r>
            <a:r>
              <a:rPr kumimoji="0" lang="en-US" altLang="en-US" sz="1800" i="0" u="none" strike="noStrike" cap="none" normalizeH="0" baseline="0" dirty="0">
                <a:ln>
                  <a:noFill/>
                </a:ln>
                <a:solidFill>
                  <a:schemeClr val="tx1"/>
                </a:solidFill>
                <a:effectLst/>
                <a:latin typeface="Nobile" panose="020B0604020202020204" charset="0"/>
              </a:rPr>
              <a:t>High growth from CPEC projects</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Nobile" panose="020B0604020202020204" charset="0"/>
              </a:rPr>
              <a:t>2019:  </a:t>
            </a:r>
            <a:r>
              <a:rPr kumimoji="0" lang="en-US" altLang="en-US" sz="1800" i="0" u="none" strike="noStrike" cap="none" normalizeH="0" baseline="0" dirty="0">
                <a:ln>
                  <a:noFill/>
                </a:ln>
                <a:solidFill>
                  <a:schemeClr val="tx1"/>
                </a:solidFill>
                <a:effectLst/>
                <a:latin typeface="Nobile" panose="020B0604020202020204" charset="0"/>
              </a:rPr>
              <a:t>Drop from high interest rates, weaker rupee, fiscal tightening</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Nobile" panose="020B0604020202020204" charset="0"/>
              </a:rPr>
              <a:t>2023:  </a:t>
            </a:r>
            <a:r>
              <a:rPr kumimoji="0" lang="en-US" altLang="en-US" sz="1800" i="0" u="none" strike="noStrike" cap="none" normalizeH="0" baseline="0" dirty="0">
                <a:ln>
                  <a:noFill/>
                </a:ln>
                <a:solidFill>
                  <a:schemeClr val="tx1"/>
                </a:solidFill>
                <a:effectLst/>
                <a:latin typeface="Nobile" panose="020B0604020202020204" charset="0"/>
              </a:rPr>
              <a:t>Crash from 20% interest rate hike to control inflation &amp; balance of payments</a:t>
            </a:r>
          </a:p>
        </p:txBody>
      </p:sp>
    </p:spTree>
    <p:extLst>
      <p:ext uri="{BB962C8B-B14F-4D97-AF65-F5344CB8AC3E}">
        <p14:creationId xmlns:p14="http://schemas.microsoft.com/office/powerpoint/2010/main" val="26214389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p:nvPr/>
        </p:nvSpPr>
        <p:spPr>
          <a:xfrm>
            <a:off x="2580060" y="490634"/>
            <a:ext cx="7556421" cy="1240155"/>
          </a:xfrm>
          <a:prstGeom prst="rect">
            <a:avLst/>
          </a:prstGeom>
          <a:noFill/>
          <a:ln/>
        </p:spPr>
        <p:txBody>
          <a:bodyPr wrap="square" lIns="0" tIns="0" rIns="0" bIns="0" rtlCol="0" anchor="t"/>
          <a:lstStyle/>
          <a:p>
            <a:pPr marL="0" indent="0" algn="l">
              <a:lnSpc>
                <a:spcPts val="4850"/>
              </a:lnSpc>
              <a:buNone/>
            </a:pPr>
            <a:r>
              <a:rPr lang="en-US" sz="3900" b="1" dirty="0">
                <a:solidFill>
                  <a:srgbClr val="3B4540"/>
                </a:solidFill>
                <a:latin typeface="Fraunces Extra Bold" panose="020B0604020202020204" charset="0"/>
                <a:ea typeface="Fraunces Extra Bold" pitchFamily="34" charset="-122"/>
                <a:cs typeface="Fraunces Extra Bold" pitchFamily="34" charset="-120"/>
              </a:rPr>
              <a:t>Regression Analysis: Key Findings</a:t>
            </a:r>
            <a:endParaRPr lang="en-US" sz="3900" dirty="0">
              <a:latin typeface="Fraunces Extra Bold" panose="020B0604020202020204" charset="0"/>
            </a:endParaRPr>
          </a:p>
        </p:txBody>
      </p:sp>
      <p:sp>
        <p:nvSpPr>
          <p:cNvPr id="4" name="Text 1"/>
          <p:cNvSpPr/>
          <p:nvPr/>
        </p:nvSpPr>
        <p:spPr>
          <a:xfrm>
            <a:off x="2941567" y="1926774"/>
            <a:ext cx="7556421" cy="665559"/>
          </a:xfrm>
          <a:prstGeom prst="rect">
            <a:avLst/>
          </a:prstGeom>
          <a:noFill/>
          <a:ln/>
        </p:spPr>
        <p:txBody>
          <a:bodyPr wrap="square" lIns="0" tIns="0" rIns="0" bIns="0" rtlCol="0" anchor="t"/>
          <a:lstStyle/>
          <a:p>
            <a:pPr marL="0" indent="0" algn="l">
              <a:lnSpc>
                <a:spcPts val="2500"/>
              </a:lnSpc>
              <a:buNone/>
            </a:pPr>
            <a:r>
              <a:rPr lang="en-US" sz="2000" dirty="0">
                <a:solidFill>
                  <a:srgbClr val="405449"/>
                </a:solidFill>
                <a:latin typeface="Nobile" pitchFamily="34" charset="0"/>
                <a:ea typeface="Nobile" pitchFamily="34" charset="-122"/>
                <a:cs typeface="Nobile" pitchFamily="34" charset="-120"/>
              </a:rPr>
              <a:t>Our regression equation is: </a:t>
            </a:r>
            <a:r>
              <a:rPr lang="en-US" sz="2000" b="1" dirty="0">
                <a:solidFill>
                  <a:srgbClr val="405449"/>
                </a:solidFill>
                <a:highlight>
                  <a:srgbClr val="EDF2ED"/>
                </a:highlight>
                <a:latin typeface="Consolas" pitchFamily="34" charset="0"/>
                <a:ea typeface="Consolas" pitchFamily="34" charset="-122"/>
                <a:cs typeface="Consolas" pitchFamily="34" charset="-120"/>
              </a:rPr>
              <a:t>Capital Formation Growth = 16.50 - 1.3125 (Average Interest Rate) + ε</a:t>
            </a:r>
            <a:endParaRPr lang="en-US" sz="2000" b="1" dirty="0"/>
          </a:p>
        </p:txBody>
      </p:sp>
      <p:sp>
        <p:nvSpPr>
          <p:cNvPr id="5" name="Shape 2"/>
          <p:cNvSpPr/>
          <p:nvPr/>
        </p:nvSpPr>
        <p:spPr>
          <a:xfrm>
            <a:off x="155835" y="3202842"/>
            <a:ext cx="6493863" cy="1878650"/>
          </a:xfrm>
          <a:prstGeom prst="roundRect">
            <a:avLst>
              <a:gd name="adj" fmla="val 12226"/>
            </a:avLst>
          </a:prstGeom>
          <a:solidFill>
            <a:srgbClr val="E8F3E8"/>
          </a:solidFill>
          <a:ln/>
        </p:spPr>
        <p:txBody>
          <a:bodyPr/>
          <a:lstStyle/>
          <a:p>
            <a:endParaRPr lang="en-US" dirty="0"/>
          </a:p>
        </p:txBody>
      </p:sp>
      <p:sp>
        <p:nvSpPr>
          <p:cNvPr id="6" name="Text 3"/>
          <p:cNvSpPr/>
          <p:nvPr/>
        </p:nvSpPr>
        <p:spPr>
          <a:xfrm>
            <a:off x="354196" y="3321495"/>
            <a:ext cx="2480905" cy="310158"/>
          </a:xfrm>
          <a:prstGeom prst="rect">
            <a:avLst/>
          </a:prstGeom>
          <a:noFill/>
          <a:ln/>
        </p:spPr>
        <p:txBody>
          <a:bodyPr wrap="none" lIns="0" tIns="0" rIns="0" bIns="0" rtlCol="0" anchor="t"/>
          <a:lstStyle/>
          <a:p>
            <a:pPr>
              <a:lnSpc>
                <a:spcPts val="2400"/>
              </a:lnSpc>
            </a:pPr>
            <a:r>
              <a:rPr lang="en-US" sz="1950" b="1" i="1" dirty="0">
                <a:solidFill>
                  <a:srgbClr val="405449"/>
                </a:solidFill>
                <a:latin typeface="Fraunces Extra Bold" pitchFamily="34" charset="0"/>
                <a:ea typeface="Fraunces Extra Bold" pitchFamily="34" charset="-122"/>
                <a:cs typeface="Fraunces Extra Bold" pitchFamily="34" charset="-120"/>
              </a:rPr>
              <a:t>Intercept (</a:t>
            </a:r>
            <a:r>
              <a:rPr lang="en-US" b="1" i="1" dirty="0">
                <a:solidFill>
                  <a:srgbClr val="405449"/>
                </a:solidFill>
                <a:highlight>
                  <a:srgbClr val="EDF2ED"/>
                </a:highlight>
                <a:latin typeface="Consolas" pitchFamily="34" charset="0"/>
                <a:ea typeface="Consolas" pitchFamily="34" charset="-122"/>
                <a:cs typeface="Consolas" pitchFamily="34" charset="-120"/>
              </a:rPr>
              <a:t>16.50</a:t>
            </a:r>
            <a:r>
              <a:rPr lang="en-US" sz="1950" b="1" i="1" dirty="0">
                <a:solidFill>
                  <a:srgbClr val="405449"/>
                </a:solidFill>
                <a:latin typeface="Fraunces Extra Bold" pitchFamily="34" charset="0"/>
                <a:ea typeface="Fraunces Extra Bold" pitchFamily="34" charset="-122"/>
                <a:cs typeface="Fraunces Extra Bold" pitchFamily="34" charset="-120"/>
              </a:rPr>
              <a:t>)</a:t>
            </a:r>
            <a:endParaRPr lang="en-US" sz="1950" i="1" dirty="0"/>
          </a:p>
        </p:txBody>
      </p:sp>
      <p:sp>
        <p:nvSpPr>
          <p:cNvPr id="7" name="Text 4"/>
          <p:cNvSpPr/>
          <p:nvPr/>
        </p:nvSpPr>
        <p:spPr>
          <a:xfrm>
            <a:off x="354195" y="3726009"/>
            <a:ext cx="5196000" cy="984763"/>
          </a:xfrm>
          <a:prstGeom prst="rect">
            <a:avLst/>
          </a:prstGeom>
          <a:noFill/>
          <a:ln/>
        </p:spPr>
        <p:txBody>
          <a:bodyPr wrap="square" lIns="0" tIns="0" rIns="0" bIns="0" rtlCol="0" anchor="t"/>
          <a:lstStyle/>
          <a:p>
            <a:pPr marL="0" indent="0" algn="l">
              <a:lnSpc>
                <a:spcPts val="2500"/>
              </a:lnSpc>
              <a:buNone/>
            </a:pPr>
            <a:r>
              <a:rPr lang="en-US" sz="1550" dirty="0">
                <a:solidFill>
                  <a:srgbClr val="405449"/>
                </a:solidFill>
                <a:latin typeface="Nobile" panose="020B0604020202020204" charset="0"/>
                <a:ea typeface="Nobile" pitchFamily="34" charset="-122"/>
                <a:cs typeface="Nobile" pitchFamily="34" charset="-120"/>
              </a:rPr>
              <a:t>When GCF Growth is 0%, the Average Interest Rate is approximately 16.50%. The estimate is moderately precise (SE = 4.1774).</a:t>
            </a:r>
            <a:endParaRPr lang="en-US" sz="1550" dirty="0">
              <a:latin typeface="Nobile" panose="020B0604020202020204" charset="0"/>
            </a:endParaRPr>
          </a:p>
        </p:txBody>
      </p:sp>
      <p:sp>
        <p:nvSpPr>
          <p:cNvPr id="8" name="Shape 5"/>
          <p:cNvSpPr/>
          <p:nvPr/>
        </p:nvSpPr>
        <p:spPr>
          <a:xfrm>
            <a:off x="183728" y="5309110"/>
            <a:ext cx="6493863" cy="1987431"/>
          </a:xfrm>
          <a:prstGeom prst="roundRect">
            <a:avLst>
              <a:gd name="adj" fmla="val 12226"/>
            </a:avLst>
          </a:prstGeom>
          <a:solidFill>
            <a:srgbClr val="E8F3E8"/>
          </a:solidFill>
          <a:ln/>
        </p:spPr>
      </p:sp>
      <p:sp>
        <p:nvSpPr>
          <p:cNvPr id="9" name="Text 6"/>
          <p:cNvSpPr/>
          <p:nvPr/>
        </p:nvSpPr>
        <p:spPr>
          <a:xfrm>
            <a:off x="354196" y="5666674"/>
            <a:ext cx="2134709" cy="421910"/>
          </a:xfrm>
          <a:prstGeom prst="rect">
            <a:avLst/>
          </a:prstGeom>
          <a:noFill/>
          <a:ln/>
        </p:spPr>
        <p:txBody>
          <a:bodyPr wrap="none" lIns="0" tIns="0" rIns="0" bIns="0" rtlCol="0" anchor="t"/>
          <a:lstStyle/>
          <a:p>
            <a:pPr>
              <a:lnSpc>
                <a:spcPts val="2400"/>
              </a:lnSpc>
            </a:pPr>
            <a:r>
              <a:rPr lang="en-US" sz="1950" b="1" i="1" dirty="0">
                <a:solidFill>
                  <a:srgbClr val="405449"/>
                </a:solidFill>
                <a:latin typeface="Fraunces Extra Bold" pitchFamily="34" charset="0"/>
                <a:ea typeface="Fraunces Extra Bold" pitchFamily="34" charset="-122"/>
                <a:cs typeface="Fraunces Extra Bold" pitchFamily="34" charset="-120"/>
              </a:rPr>
              <a:t>GCF Growth (–</a:t>
            </a:r>
            <a:r>
              <a:rPr lang="en-US" b="1" i="1" dirty="0">
                <a:solidFill>
                  <a:srgbClr val="405449"/>
                </a:solidFill>
                <a:highlight>
                  <a:srgbClr val="EDF2ED"/>
                </a:highlight>
                <a:latin typeface="Consolas" pitchFamily="34" charset="0"/>
                <a:ea typeface="Consolas" pitchFamily="34" charset="-122"/>
                <a:cs typeface="Consolas" pitchFamily="34" charset="-120"/>
              </a:rPr>
              <a:t>1.3125</a:t>
            </a:r>
            <a:r>
              <a:rPr lang="en-US" sz="1950" b="1" i="1" dirty="0">
                <a:solidFill>
                  <a:srgbClr val="405449"/>
                </a:solidFill>
                <a:latin typeface="Fraunces Extra Bold" pitchFamily="34" charset="0"/>
                <a:ea typeface="Fraunces Extra Bold" pitchFamily="34" charset="-122"/>
                <a:cs typeface="Fraunces Extra Bold" pitchFamily="34" charset="-120"/>
              </a:rPr>
              <a:t>)</a:t>
            </a:r>
            <a:endParaRPr lang="en-US" sz="1950" i="1" dirty="0"/>
          </a:p>
        </p:txBody>
      </p:sp>
      <p:sp>
        <p:nvSpPr>
          <p:cNvPr id="10" name="Text 7"/>
          <p:cNvSpPr/>
          <p:nvPr/>
        </p:nvSpPr>
        <p:spPr>
          <a:xfrm>
            <a:off x="354195" y="6095894"/>
            <a:ext cx="6152931" cy="863903"/>
          </a:xfrm>
          <a:prstGeom prst="rect">
            <a:avLst/>
          </a:prstGeom>
          <a:noFill/>
          <a:ln/>
        </p:spPr>
        <p:txBody>
          <a:bodyPr wrap="square" lIns="0" tIns="0" rIns="0" bIns="0" rtlCol="0" anchor="t"/>
          <a:lstStyle/>
          <a:p>
            <a:pPr marL="0" indent="0" algn="l">
              <a:lnSpc>
                <a:spcPts val="2500"/>
              </a:lnSpc>
              <a:buNone/>
            </a:pPr>
            <a:r>
              <a:rPr lang="en-US" sz="1550" dirty="0">
                <a:solidFill>
                  <a:srgbClr val="405449"/>
                </a:solidFill>
                <a:latin typeface="Nobile" pitchFamily="34" charset="0"/>
                <a:ea typeface="Nobile" pitchFamily="34" charset="-122"/>
                <a:cs typeface="Nobile" pitchFamily="34" charset="-120"/>
              </a:rPr>
              <a:t>For every 1% increase in GCF Growth, the Average Interest Rate decreases by 1.3125%. This slope estimate is reliable (SE = 0.3754).</a:t>
            </a:r>
            <a:endParaRPr lang="en-US" sz="1550" dirty="0"/>
          </a:p>
        </p:txBody>
      </p:sp>
      <p:sp>
        <p:nvSpPr>
          <p:cNvPr id="12" name="Rectangle 11">
            <a:extLst>
              <a:ext uri="{FF2B5EF4-FFF2-40B4-BE49-F238E27FC236}">
                <a16:creationId xmlns:a16="http://schemas.microsoft.com/office/drawing/2014/main" id="{8CAFF41D-220E-48BA-2F45-0646B6033650}"/>
              </a:ext>
            </a:extLst>
          </p:cNvPr>
          <p:cNvSpPr/>
          <p:nvPr/>
        </p:nvSpPr>
        <p:spPr>
          <a:xfrm>
            <a:off x="0" y="7730550"/>
            <a:ext cx="14630400" cy="499049"/>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25">
              <a:solidFill>
                <a:schemeClr val="accent6">
                  <a:lumMod val="20000"/>
                  <a:lumOff val="80000"/>
                </a:schemeClr>
              </a:solidFill>
            </a:endParaRPr>
          </a:p>
        </p:txBody>
      </p:sp>
      <p:pic>
        <p:nvPicPr>
          <p:cNvPr id="16" name="Picture 15">
            <a:extLst>
              <a:ext uri="{FF2B5EF4-FFF2-40B4-BE49-F238E27FC236}">
                <a16:creationId xmlns:a16="http://schemas.microsoft.com/office/drawing/2014/main" id="{FFCA2A43-6760-D784-95D0-7F79AC844830}"/>
              </a:ext>
            </a:extLst>
          </p:cNvPr>
          <p:cNvPicPr>
            <a:picLocks noChangeAspect="1"/>
          </p:cNvPicPr>
          <p:nvPr/>
        </p:nvPicPr>
        <p:blipFill>
          <a:blip r:embed="rId3"/>
          <a:stretch>
            <a:fillRect/>
          </a:stretch>
        </p:blipFill>
        <p:spPr>
          <a:xfrm>
            <a:off x="6875950" y="3026341"/>
            <a:ext cx="7222821" cy="435265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269087"/>
            <a:ext cx="11973758" cy="620078"/>
          </a:xfrm>
          <a:prstGeom prst="rect">
            <a:avLst/>
          </a:prstGeom>
          <a:noFill/>
          <a:ln/>
        </p:spPr>
        <p:txBody>
          <a:bodyPr wrap="none" lIns="0" tIns="0" rIns="0" bIns="0" rtlCol="0" anchor="t"/>
          <a:lstStyle/>
          <a:p>
            <a:pPr marL="0" indent="0" algn="l">
              <a:lnSpc>
                <a:spcPts val="4850"/>
              </a:lnSpc>
              <a:buNone/>
            </a:pPr>
            <a:r>
              <a:rPr lang="en-US" sz="3900" b="1" dirty="0">
                <a:solidFill>
                  <a:srgbClr val="3B4540"/>
                </a:solidFill>
                <a:latin typeface="Fraunces Extra Bold" pitchFamily="34" charset="0"/>
                <a:ea typeface="Fraunces Extra Bold" pitchFamily="34" charset="-122"/>
                <a:cs typeface="Fraunces Extra Bold" pitchFamily="34" charset="-120"/>
              </a:rPr>
              <a:t>Regression Analysis: Significance and Model Fit</a:t>
            </a:r>
            <a:endParaRPr lang="en-US" sz="3900" dirty="0"/>
          </a:p>
        </p:txBody>
      </p:sp>
      <p:sp>
        <p:nvSpPr>
          <p:cNvPr id="3" name="Shape 1"/>
          <p:cNvSpPr/>
          <p:nvPr/>
        </p:nvSpPr>
        <p:spPr>
          <a:xfrm>
            <a:off x="793790" y="2583656"/>
            <a:ext cx="4215289" cy="2099191"/>
          </a:xfrm>
          <a:prstGeom prst="roundRect">
            <a:avLst>
              <a:gd name="adj" fmla="val 5227"/>
            </a:avLst>
          </a:prstGeom>
          <a:solidFill>
            <a:srgbClr val="FAFFFA"/>
          </a:solidFill>
          <a:ln/>
        </p:spPr>
      </p:sp>
      <p:sp>
        <p:nvSpPr>
          <p:cNvPr id="4" name="Shape 2"/>
          <p:cNvSpPr/>
          <p:nvPr/>
        </p:nvSpPr>
        <p:spPr>
          <a:xfrm>
            <a:off x="793790" y="2560796"/>
            <a:ext cx="4215289" cy="91440"/>
          </a:xfrm>
          <a:prstGeom prst="roundRect">
            <a:avLst>
              <a:gd name="adj" fmla="val 195349"/>
            </a:avLst>
          </a:prstGeom>
          <a:solidFill>
            <a:srgbClr val="438951"/>
          </a:solidFill>
          <a:ln/>
        </p:spPr>
      </p:sp>
      <p:sp>
        <p:nvSpPr>
          <p:cNvPr id="5" name="Shape 3"/>
          <p:cNvSpPr/>
          <p:nvPr/>
        </p:nvSpPr>
        <p:spPr>
          <a:xfrm>
            <a:off x="2603778" y="2286000"/>
            <a:ext cx="595313" cy="595313"/>
          </a:xfrm>
          <a:prstGeom prst="roundRect">
            <a:avLst>
              <a:gd name="adj" fmla="val 153600"/>
            </a:avLst>
          </a:prstGeom>
          <a:solidFill>
            <a:srgbClr val="438951"/>
          </a:solidFill>
          <a:ln/>
        </p:spPr>
      </p:sp>
      <p:sp>
        <p:nvSpPr>
          <p:cNvPr id="6" name="Text 4"/>
          <p:cNvSpPr/>
          <p:nvPr/>
        </p:nvSpPr>
        <p:spPr>
          <a:xfrm>
            <a:off x="2782372" y="2434828"/>
            <a:ext cx="238125" cy="297656"/>
          </a:xfrm>
          <a:prstGeom prst="rect">
            <a:avLst/>
          </a:prstGeom>
          <a:noFill/>
          <a:ln/>
        </p:spPr>
        <p:txBody>
          <a:bodyPr wrap="none" lIns="0" tIns="0" rIns="0" bIns="0" rtlCol="0" anchor="t"/>
          <a:lstStyle/>
          <a:p>
            <a:pPr marL="0" indent="0" algn="l">
              <a:lnSpc>
                <a:spcPts val="3000"/>
              </a:lnSpc>
              <a:buNone/>
            </a:pPr>
            <a:r>
              <a:rPr lang="en-US" sz="1850" b="1" dirty="0">
                <a:solidFill>
                  <a:srgbClr val="FFFFFF"/>
                </a:solidFill>
                <a:latin typeface="Fraunces Extra Bold" pitchFamily="34" charset="0"/>
                <a:ea typeface="Fraunces Extra Bold" pitchFamily="34" charset="-122"/>
                <a:cs typeface="Fraunces Extra Bold" pitchFamily="34" charset="-120"/>
              </a:rPr>
              <a:t>1</a:t>
            </a:r>
            <a:endParaRPr lang="en-US" sz="1850" dirty="0"/>
          </a:p>
        </p:txBody>
      </p:sp>
      <p:sp>
        <p:nvSpPr>
          <p:cNvPr id="7" name="Text 5"/>
          <p:cNvSpPr/>
          <p:nvPr/>
        </p:nvSpPr>
        <p:spPr>
          <a:xfrm>
            <a:off x="1015008" y="3079790"/>
            <a:ext cx="2898100" cy="310158"/>
          </a:xfrm>
          <a:prstGeom prst="rect">
            <a:avLst/>
          </a:prstGeom>
          <a:noFill/>
          <a:ln/>
        </p:spPr>
        <p:txBody>
          <a:bodyPr wrap="none" lIns="0" tIns="0" rIns="0" bIns="0" rtlCol="0" anchor="t"/>
          <a:lstStyle/>
          <a:p>
            <a:pPr marL="0" indent="0" algn="l">
              <a:lnSpc>
                <a:spcPts val="2400"/>
              </a:lnSpc>
              <a:buNone/>
            </a:pPr>
            <a:r>
              <a:rPr lang="en-US" sz="1950" b="1" dirty="0">
                <a:solidFill>
                  <a:srgbClr val="405449"/>
                </a:solidFill>
                <a:latin typeface="Fraunces Extra Bold" pitchFamily="34" charset="0"/>
                <a:ea typeface="Fraunces Extra Bold" pitchFamily="34" charset="-122"/>
                <a:cs typeface="Fraunces Extra Bold" pitchFamily="34" charset="-120"/>
              </a:rPr>
              <a:t>Statistical Significance</a:t>
            </a:r>
            <a:endParaRPr lang="en-US" sz="1950" dirty="0"/>
          </a:p>
        </p:txBody>
      </p:sp>
      <p:sp>
        <p:nvSpPr>
          <p:cNvPr id="8" name="Text 6"/>
          <p:cNvSpPr/>
          <p:nvPr/>
        </p:nvSpPr>
        <p:spPr>
          <a:xfrm>
            <a:off x="1015008" y="3509010"/>
            <a:ext cx="3772853" cy="952619"/>
          </a:xfrm>
          <a:prstGeom prst="rect">
            <a:avLst/>
          </a:prstGeom>
          <a:noFill/>
          <a:ln/>
        </p:spPr>
        <p:txBody>
          <a:bodyPr wrap="square" lIns="0" tIns="0" rIns="0" bIns="0" rtlCol="0" anchor="t"/>
          <a:lstStyle/>
          <a:p>
            <a:pPr marL="0" indent="0" algn="l">
              <a:lnSpc>
                <a:spcPts val="2500"/>
              </a:lnSpc>
              <a:buNone/>
            </a:pPr>
            <a:r>
              <a:rPr lang="en-US" sz="1550" dirty="0">
                <a:solidFill>
                  <a:srgbClr val="405449"/>
                </a:solidFill>
                <a:latin typeface="Nobile" pitchFamily="34" charset="0"/>
                <a:ea typeface="Nobile" pitchFamily="34" charset="-122"/>
                <a:cs typeface="Nobile" pitchFamily="34" charset="-120"/>
              </a:rPr>
              <a:t>Both coefficients are statistically significant (p &lt; 0.05), indicating the relationship is unlikely due to chance.</a:t>
            </a:r>
            <a:endParaRPr lang="en-US" sz="1550" dirty="0"/>
          </a:p>
        </p:txBody>
      </p:sp>
      <p:sp>
        <p:nvSpPr>
          <p:cNvPr id="9" name="Shape 7"/>
          <p:cNvSpPr/>
          <p:nvPr/>
        </p:nvSpPr>
        <p:spPr>
          <a:xfrm>
            <a:off x="5207437" y="2583656"/>
            <a:ext cx="4215408" cy="2099191"/>
          </a:xfrm>
          <a:prstGeom prst="roundRect">
            <a:avLst>
              <a:gd name="adj" fmla="val 5227"/>
            </a:avLst>
          </a:prstGeom>
          <a:solidFill>
            <a:srgbClr val="FAFFFA"/>
          </a:solidFill>
          <a:ln/>
        </p:spPr>
      </p:sp>
      <p:sp>
        <p:nvSpPr>
          <p:cNvPr id="10" name="Shape 8"/>
          <p:cNvSpPr/>
          <p:nvPr/>
        </p:nvSpPr>
        <p:spPr>
          <a:xfrm>
            <a:off x="5207437" y="2560796"/>
            <a:ext cx="4215408" cy="91440"/>
          </a:xfrm>
          <a:prstGeom prst="roundRect">
            <a:avLst>
              <a:gd name="adj" fmla="val 195349"/>
            </a:avLst>
          </a:prstGeom>
          <a:solidFill>
            <a:srgbClr val="438951"/>
          </a:solidFill>
          <a:ln/>
        </p:spPr>
      </p:sp>
      <p:sp>
        <p:nvSpPr>
          <p:cNvPr id="11" name="Shape 9"/>
          <p:cNvSpPr/>
          <p:nvPr/>
        </p:nvSpPr>
        <p:spPr>
          <a:xfrm>
            <a:off x="7017425" y="2286000"/>
            <a:ext cx="595313" cy="595313"/>
          </a:xfrm>
          <a:prstGeom prst="roundRect">
            <a:avLst>
              <a:gd name="adj" fmla="val 153600"/>
            </a:avLst>
          </a:prstGeom>
          <a:solidFill>
            <a:srgbClr val="438951"/>
          </a:solidFill>
          <a:ln/>
        </p:spPr>
      </p:sp>
      <p:sp>
        <p:nvSpPr>
          <p:cNvPr id="12" name="Text 10"/>
          <p:cNvSpPr/>
          <p:nvPr/>
        </p:nvSpPr>
        <p:spPr>
          <a:xfrm>
            <a:off x="7196018" y="2434828"/>
            <a:ext cx="238125" cy="297656"/>
          </a:xfrm>
          <a:prstGeom prst="rect">
            <a:avLst/>
          </a:prstGeom>
          <a:noFill/>
          <a:ln/>
        </p:spPr>
        <p:txBody>
          <a:bodyPr wrap="none" lIns="0" tIns="0" rIns="0" bIns="0" rtlCol="0" anchor="t"/>
          <a:lstStyle/>
          <a:p>
            <a:pPr marL="0" indent="0" algn="l">
              <a:lnSpc>
                <a:spcPts val="3000"/>
              </a:lnSpc>
              <a:buNone/>
            </a:pPr>
            <a:r>
              <a:rPr lang="en-US" sz="1850" b="1" dirty="0">
                <a:solidFill>
                  <a:srgbClr val="FFFFFF"/>
                </a:solidFill>
                <a:latin typeface="Fraunces Extra Bold" pitchFamily="34" charset="0"/>
                <a:ea typeface="Fraunces Extra Bold" pitchFamily="34" charset="-122"/>
                <a:cs typeface="Fraunces Extra Bold" pitchFamily="34" charset="-120"/>
              </a:rPr>
              <a:t>2</a:t>
            </a:r>
            <a:endParaRPr lang="en-US" sz="1850" dirty="0"/>
          </a:p>
        </p:txBody>
      </p:sp>
      <p:sp>
        <p:nvSpPr>
          <p:cNvPr id="13" name="Text 11"/>
          <p:cNvSpPr/>
          <p:nvPr/>
        </p:nvSpPr>
        <p:spPr>
          <a:xfrm>
            <a:off x="5428655" y="3079790"/>
            <a:ext cx="3090148" cy="310158"/>
          </a:xfrm>
          <a:prstGeom prst="rect">
            <a:avLst/>
          </a:prstGeom>
          <a:noFill/>
          <a:ln/>
        </p:spPr>
        <p:txBody>
          <a:bodyPr wrap="none" lIns="0" tIns="0" rIns="0" bIns="0" rtlCol="0" anchor="t"/>
          <a:lstStyle/>
          <a:p>
            <a:pPr marL="0" indent="0" algn="l">
              <a:lnSpc>
                <a:spcPts val="2400"/>
              </a:lnSpc>
              <a:buNone/>
            </a:pPr>
            <a:r>
              <a:rPr lang="en-US" sz="1950" b="1" dirty="0">
                <a:solidFill>
                  <a:srgbClr val="405449"/>
                </a:solidFill>
                <a:latin typeface="Fraunces Extra Bold" pitchFamily="34" charset="0"/>
                <a:ea typeface="Fraunces Extra Bold" pitchFamily="34" charset="-122"/>
                <a:cs typeface="Fraunces Extra Bold" pitchFamily="34" charset="-120"/>
              </a:rPr>
              <a:t>Residual Standard Error</a:t>
            </a:r>
            <a:endParaRPr lang="en-US" sz="1950" dirty="0"/>
          </a:p>
        </p:txBody>
      </p:sp>
      <p:sp>
        <p:nvSpPr>
          <p:cNvPr id="14" name="Text 12"/>
          <p:cNvSpPr/>
          <p:nvPr/>
        </p:nvSpPr>
        <p:spPr>
          <a:xfrm>
            <a:off x="5428655" y="3509010"/>
            <a:ext cx="3772972" cy="952619"/>
          </a:xfrm>
          <a:prstGeom prst="rect">
            <a:avLst/>
          </a:prstGeom>
          <a:noFill/>
          <a:ln/>
        </p:spPr>
        <p:txBody>
          <a:bodyPr wrap="square" lIns="0" tIns="0" rIns="0" bIns="0" rtlCol="0" anchor="t"/>
          <a:lstStyle/>
          <a:p>
            <a:pPr>
              <a:lnSpc>
                <a:spcPts val="2500"/>
              </a:lnSpc>
            </a:pPr>
            <a:r>
              <a:rPr lang="en-US" sz="1550" dirty="0">
                <a:solidFill>
                  <a:srgbClr val="405449"/>
                </a:solidFill>
                <a:latin typeface="Nobile" pitchFamily="34" charset="0"/>
                <a:ea typeface="Nobile" pitchFamily="34" charset="-122"/>
                <a:cs typeface="Nobile" pitchFamily="34" charset="-120"/>
              </a:rPr>
              <a:t>The model's predicted GCF Growth deviate from actual by about 6.298 % on average.</a:t>
            </a:r>
            <a:endParaRPr lang="en-US" sz="1550" dirty="0"/>
          </a:p>
        </p:txBody>
      </p:sp>
      <p:sp>
        <p:nvSpPr>
          <p:cNvPr id="15" name="Shape 13"/>
          <p:cNvSpPr/>
          <p:nvPr/>
        </p:nvSpPr>
        <p:spPr>
          <a:xfrm>
            <a:off x="9621203" y="2583656"/>
            <a:ext cx="4215289" cy="2099191"/>
          </a:xfrm>
          <a:prstGeom prst="roundRect">
            <a:avLst>
              <a:gd name="adj" fmla="val 5227"/>
            </a:avLst>
          </a:prstGeom>
          <a:solidFill>
            <a:srgbClr val="FAFFFA"/>
          </a:solidFill>
          <a:ln/>
        </p:spPr>
      </p:sp>
      <p:sp>
        <p:nvSpPr>
          <p:cNvPr id="16" name="Shape 14"/>
          <p:cNvSpPr/>
          <p:nvPr/>
        </p:nvSpPr>
        <p:spPr>
          <a:xfrm>
            <a:off x="9621203" y="2560796"/>
            <a:ext cx="4215289" cy="91440"/>
          </a:xfrm>
          <a:prstGeom prst="roundRect">
            <a:avLst>
              <a:gd name="adj" fmla="val 195349"/>
            </a:avLst>
          </a:prstGeom>
          <a:solidFill>
            <a:srgbClr val="438951"/>
          </a:solidFill>
          <a:ln/>
        </p:spPr>
      </p:sp>
      <p:sp>
        <p:nvSpPr>
          <p:cNvPr id="17" name="Shape 15"/>
          <p:cNvSpPr/>
          <p:nvPr/>
        </p:nvSpPr>
        <p:spPr>
          <a:xfrm>
            <a:off x="11431191" y="2286000"/>
            <a:ext cx="595313" cy="595313"/>
          </a:xfrm>
          <a:prstGeom prst="roundRect">
            <a:avLst>
              <a:gd name="adj" fmla="val 153600"/>
            </a:avLst>
          </a:prstGeom>
          <a:solidFill>
            <a:srgbClr val="438951"/>
          </a:solidFill>
          <a:ln/>
        </p:spPr>
      </p:sp>
      <p:sp>
        <p:nvSpPr>
          <p:cNvPr id="18" name="Text 16"/>
          <p:cNvSpPr/>
          <p:nvPr/>
        </p:nvSpPr>
        <p:spPr>
          <a:xfrm>
            <a:off x="11609784" y="2434828"/>
            <a:ext cx="238125" cy="297656"/>
          </a:xfrm>
          <a:prstGeom prst="rect">
            <a:avLst/>
          </a:prstGeom>
          <a:noFill/>
          <a:ln/>
        </p:spPr>
        <p:txBody>
          <a:bodyPr wrap="none" lIns="0" tIns="0" rIns="0" bIns="0" rtlCol="0" anchor="t"/>
          <a:lstStyle/>
          <a:p>
            <a:pPr marL="0" indent="0" algn="l">
              <a:lnSpc>
                <a:spcPts val="3000"/>
              </a:lnSpc>
              <a:buNone/>
            </a:pPr>
            <a:r>
              <a:rPr lang="en-US" sz="1850" b="1" dirty="0">
                <a:solidFill>
                  <a:srgbClr val="FFFFFF"/>
                </a:solidFill>
                <a:latin typeface="Fraunces Extra Bold" pitchFamily="34" charset="0"/>
                <a:ea typeface="Fraunces Extra Bold" pitchFamily="34" charset="-122"/>
                <a:cs typeface="Fraunces Extra Bold" pitchFamily="34" charset="-120"/>
              </a:rPr>
              <a:t>3</a:t>
            </a:r>
            <a:endParaRPr lang="en-US" sz="1850" dirty="0"/>
          </a:p>
        </p:txBody>
      </p:sp>
      <p:sp>
        <p:nvSpPr>
          <p:cNvPr id="19" name="Text 17"/>
          <p:cNvSpPr/>
          <p:nvPr/>
        </p:nvSpPr>
        <p:spPr>
          <a:xfrm>
            <a:off x="9842421" y="3079790"/>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05449"/>
                </a:solidFill>
                <a:latin typeface="Fraunces Extra Bold" pitchFamily="34" charset="0"/>
                <a:ea typeface="Fraunces Extra Bold" pitchFamily="34" charset="-122"/>
                <a:cs typeface="Fraunces Extra Bold" pitchFamily="34" charset="-120"/>
              </a:rPr>
              <a:t>R-squared (0.357)</a:t>
            </a:r>
            <a:endParaRPr lang="en-US" sz="1950" dirty="0"/>
          </a:p>
        </p:txBody>
      </p:sp>
      <p:sp>
        <p:nvSpPr>
          <p:cNvPr id="20" name="Text 18"/>
          <p:cNvSpPr/>
          <p:nvPr/>
        </p:nvSpPr>
        <p:spPr>
          <a:xfrm>
            <a:off x="9842421" y="3509010"/>
            <a:ext cx="3772853" cy="952619"/>
          </a:xfrm>
          <a:prstGeom prst="rect">
            <a:avLst/>
          </a:prstGeom>
          <a:noFill/>
          <a:ln/>
        </p:spPr>
        <p:txBody>
          <a:bodyPr wrap="square" lIns="0" tIns="0" rIns="0" bIns="0" rtlCol="0" anchor="t"/>
          <a:lstStyle/>
          <a:p>
            <a:pPr>
              <a:lnSpc>
                <a:spcPts val="2500"/>
              </a:lnSpc>
            </a:pPr>
            <a:r>
              <a:rPr lang="en-US" sz="1550" dirty="0">
                <a:solidFill>
                  <a:srgbClr val="405449"/>
                </a:solidFill>
                <a:latin typeface="Nobile" pitchFamily="34" charset="0"/>
                <a:ea typeface="Nobile" pitchFamily="34" charset="-122"/>
                <a:cs typeface="Nobile" pitchFamily="34" charset="-120"/>
              </a:rPr>
              <a:t>About 35.7% of the variation in GCF Growth is explained by Interest Rates .</a:t>
            </a:r>
            <a:endParaRPr lang="en-US" sz="1550" dirty="0"/>
          </a:p>
        </p:txBody>
      </p:sp>
      <p:sp>
        <p:nvSpPr>
          <p:cNvPr id="21" name="Shape 19"/>
          <p:cNvSpPr/>
          <p:nvPr/>
        </p:nvSpPr>
        <p:spPr>
          <a:xfrm>
            <a:off x="793790" y="5178862"/>
            <a:ext cx="6422112" cy="1781651"/>
          </a:xfrm>
          <a:prstGeom prst="roundRect">
            <a:avLst>
              <a:gd name="adj" fmla="val 6159"/>
            </a:avLst>
          </a:prstGeom>
          <a:solidFill>
            <a:srgbClr val="FAFFFA"/>
          </a:solidFill>
          <a:ln/>
        </p:spPr>
      </p:sp>
      <p:sp>
        <p:nvSpPr>
          <p:cNvPr id="22" name="Shape 20"/>
          <p:cNvSpPr/>
          <p:nvPr/>
        </p:nvSpPr>
        <p:spPr>
          <a:xfrm>
            <a:off x="793790" y="5156002"/>
            <a:ext cx="6422112" cy="91440"/>
          </a:xfrm>
          <a:prstGeom prst="roundRect">
            <a:avLst>
              <a:gd name="adj" fmla="val 195349"/>
            </a:avLst>
          </a:prstGeom>
          <a:solidFill>
            <a:srgbClr val="438951"/>
          </a:solidFill>
          <a:ln/>
        </p:spPr>
      </p:sp>
      <p:sp>
        <p:nvSpPr>
          <p:cNvPr id="23" name="Shape 21"/>
          <p:cNvSpPr/>
          <p:nvPr/>
        </p:nvSpPr>
        <p:spPr>
          <a:xfrm>
            <a:off x="3707130" y="4881205"/>
            <a:ext cx="595313" cy="595313"/>
          </a:xfrm>
          <a:prstGeom prst="roundRect">
            <a:avLst>
              <a:gd name="adj" fmla="val 153600"/>
            </a:avLst>
          </a:prstGeom>
          <a:solidFill>
            <a:srgbClr val="438951"/>
          </a:solidFill>
          <a:ln/>
        </p:spPr>
      </p:sp>
      <p:sp>
        <p:nvSpPr>
          <p:cNvPr id="24" name="Text 22"/>
          <p:cNvSpPr/>
          <p:nvPr/>
        </p:nvSpPr>
        <p:spPr>
          <a:xfrm>
            <a:off x="3885724" y="5030033"/>
            <a:ext cx="238125" cy="297656"/>
          </a:xfrm>
          <a:prstGeom prst="rect">
            <a:avLst/>
          </a:prstGeom>
          <a:noFill/>
          <a:ln/>
        </p:spPr>
        <p:txBody>
          <a:bodyPr wrap="none" lIns="0" tIns="0" rIns="0" bIns="0" rtlCol="0" anchor="t"/>
          <a:lstStyle/>
          <a:p>
            <a:pPr marL="0" indent="0" algn="l">
              <a:lnSpc>
                <a:spcPts val="3000"/>
              </a:lnSpc>
              <a:buNone/>
            </a:pPr>
            <a:r>
              <a:rPr lang="en-US" sz="1850" b="1" dirty="0">
                <a:solidFill>
                  <a:srgbClr val="FFFFFF"/>
                </a:solidFill>
                <a:latin typeface="Fraunces Extra Bold" pitchFamily="34" charset="0"/>
                <a:ea typeface="Fraunces Extra Bold" pitchFamily="34" charset="-122"/>
                <a:cs typeface="Fraunces Extra Bold" pitchFamily="34" charset="-120"/>
              </a:rPr>
              <a:t>4</a:t>
            </a:r>
            <a:endParaRPr lang="en-US" sz="1850" dirty="0"/>
          </a:p>
        </p:txBody>
      </p:sp>
      <p:sp>
        <p:nvSpPr>
          <p:cNvPr id="25" name="Text 23"/>
          <p:cNvSpPr/>
          <p:nvPr/>
        </p:nvSpPr>
        <p:spPr>
          <a:xfrm>
            <a:off x="1015008" y="5674995"/>
            <a:ext cx="3484721" cy="310158"/>
          </a:xfrm>
          <a:prstGeom prst="rect">
            <a:avLst/>
          </a:prstGeom>
          <a:noFill/>
          <a:ln/>
        </p:spPr>
        <p:txBody>
          <a:bodyPr wrap="none" lIns="0" tIns="0" rIns="0" bIns="0" rtlCol="0" anchor="t"/>
          <a:lstStyle/>
          <a:p>
            <a:pPr marL="0" indent="0" algn="l">
              <a:lnSpc>
                <a:spcPts val="2400"/>
              </a:lnSpc>
              <a:buNone/>
            </a:pPr>
            <a:r>
              <a:rPr lang="en-US" sz="1950" b="1" dirty="0">
                <a:solidFill>
                  <a:srgbClr val="405449"/>
                </a:solidFill>
                <a:latin typeface="Fraunces Extra Bold" pitchFamily="34" charset="0"/>
                <a:ea typeface="Fraunces Extra Bold" pitchFamily="34" charset="-122"/>
                <a:cs typeface="Fraunces Extra Bold" pitchFamily="34" charset="-120"/>
              </a:rPr>
              <a:t>Adjusted R-squared (0.328)</a:t>
            </a:r>
            <a:endParaRPr lang="en-US" sz="1950" dirty="0"/>
          </a:p>
        </p:txBody>
      </p:sp>
      <p:sp>
        <p:nvSpPr>
          <p:cNvPr id="26" name="Text 24"/>
          <p:cNvSpPr/>
          <p:nvPr/>
        </p:nvSpPr>
        <p:spPr>
          <a:xfrm>
            <a:off x="1015008" y="6104215"/>
            <a:ext cx="5979676" cy="635079"/>
          </a:xfrm>
          <a:prstGeom prst="rect">
            <a:avLst/>
          </a:prstGeom>
          <a:noFill/>
          <a:ln/>
        </p:spPr>
        <p:txBody>
          <a:bodyPr wrap="square" lIns="0" tIns="0" rIns="0" bIns="0" rtlCol="0" anchor="t"/>
          <a:lstStyle/>
          <a:p>
            <a:pPr marL="0" indent="0" algn="l">
              <a:lnSpc>
                <a:spcPts val="2500"/>
              </a:lnSpc>
              <a:buNone/>
            </a:pPr>
            <a:r>
              <a:rPr lang="en-US" sz="1550" dirty="0">
                <a:solidFill>
                  <a:srgbClr val="405449"/>
                </a:solidFill>
                <a:latin typeface="Nobile" pitchFamily="34" charset="0"/>
                <a:ea typeface="Nobile" pitchFamily="34" charset="-122"/>
                <a:cs typeface="Nobile" pitchFamily="34" charset="-120"/>
              </a:rPr>
              <a:t>The adjusted value, accounting for sample size, is slightly lower at 32.8%.</a:t>
            </a:r>
            <a:endParaRPr lang="en-US" sz="1550" dirty="0"/>
          </a:p>
        </p:txBody>
      </p:sp>
      <p:sp>
        <p:nvSpPr>
          <p:cNvPr id="27" name="Shape 25"/>
          <p:cNvSpPr/>
          <p:nvPr/>
        </p:nvSpPr>
        <p:spPr>
          <a:xfrm>
            <a:off x="7414260" y="5178862"/>
            <a:ext cx="6422231" cy="1781651"/>
          </a:xfrm>
          <a:prstGeom prst="roundRect">
            <a:avLst>
              <a:gd name="adj" fmla="val 6159"/>
            </a:avLst>
          </a:prstGeom>
          <a:solidFill>
            <a:srgbClr val="FAFFFA"/>
          </a:solidFill>
          <a:ln/>
        </p:spPr>
      </p:sp>
      <p:sp>
        <p:nvSpPr>
          <p:cNvPr id="28" name="Shape 26"/>
          <p:cNvSpPr/>
          <p:nvPr/>
        </p:nvSpPr>
        <p:spPr>
          <a:xfrm>
            <a:off x="7414260" y="5156002"/>
            <a:ext cx="6422231" cy="91440"/>
          </a:xfrm>
          <a:prstGeom prst="roundRect">
            <a:avLst>
              <a:gd name="adj" fmla="val 195349"/>
            </a:avLst>
          </a:prstGeom>
          <a:solidFill>
            <a:srgbClr val="438951"/>
          </a:solidFill>
          <a:ln/>
        </p:spPr>
      </p:sp>
      <p:sp>
        <p:nvSpPr>
          <p:cNvPr id="29" name="Shape 27"/>
          <p:cNvSpPr/>
          <p:nvPr/>
        </p:nvSpPr>
        <p:spPr>
          <a:xfrm>
            <a:off x="10327719" y="4881205"/>
            <a:ext cx="595313" cy="595313"/>
          </a:xfrm>
          <a:prstGeom prst="roundRect">
            <a:avLst>
              <a:gd name="adj" fmla="val 153600"/>
            </a:avLst>
          </a:prstGeom>
          <a:solidFill>
            <a:srgbClr val="438951"/>
          </a:solidFill>
          <a:ln/>
        </p:spPr>
      </p:sp>
      <p:sp>
        <p:nvSpPr>
          <p:cNvPr id="30" name="Text 28"/>
          <p:cNvSpPr/>
          <p:nvPr/>
        </p:nvSpPr>
        <p:spPr>
          <a:xfrm>
            <a:off x="10506313" y="5030033"/>
            <a:ext cx="238125" cy="297656"/>
          </a:xfrm>
          <a:prstGeom prst="rect">
            <a:avLst/>
          </a:prstGeom>
          <a:noFill/>
          <a:ln/>
        </p:spPr>
        <p:txBody>
          <a:bodyPr wrap="none" lIns="0" tIns="0" rIns="0" bIns="0" rtlCol="0" anchor="t"/>
          <a:lstStyle/>
          <a:p>
            <a:pPr marL="0" indent="0" algn="l">
              <a:lnSpc>
                <a:spcPts val="3000"/>
              </a:lnSpc>
              <a:buNone/>
            </a:pPr>
            <a:r>
              <a:rPr lang="en-US" sz="1850" b="1" dirty="0">
                <a:solidFill>
                  <a:srgbClr val="FFFFFF"/>
                </a:solidFill>
                <a:latin typeface="Fraunces Extra Bold" pitchFamily="34" charset="0"/>
                <a:ea typeface="Fraunces Extra Bold" pitchFamily="34" charset="-122"/>
                <a:cs typeface="Fraunces Extra Bold" pitchFamily="34" charset="-120"/>
              </a:rPr>
              <a:t>5</a:t>
            </a:r>
            <a:endParaRPr lang="en-US" sz="1850" dirty="0"/>
          </a:p>
        </p:txBody>
      </p:sp>
      <p:sp>
        <p:nvSpPr>
          <p:cNvPr id="31" name="Text 29"/>
          <p:cNvSpPr/>
          <p:nvPr/>
        </p:nvSpPr>
        <p:spPr>
          <a:xfrm>
            <a:off x="7635478" y="5674995"/>
            <a:ext cx="3514249" cy="310158"/>
          </a:xfrm>
          <a:prstGeom prst="rect">
            <a:avLst/>
          </a:prstGeom>
          <a:noFill/>
          <a:ln/>
        </p:spPr>
        <p:txBody>
          <a:bodyPr wrap="none" lIns="0" tIns="0" rIns="0" bIns="0" rtlCol="0" anchor="t"/>
          <a:lstStyle/>
          <a:p>
            <a:pPr marL="0" indent="0" algn="l">
              <a:lnSpc>
                <a:spcPts val="2400"/>
              </a:lnSpc>
              <a:buNone/>
            </a:pPr>
            <a:r>
              <a:rPr lang="en-US" sz="1950" b="1" dirty="0">
                <a:solidFill>
                  <a:srgbClr val="405449"/>
                </a:solidFill>
                <a:latin typeface="Fraunces Extra Bold" pitchFamily="34" charset="0"/>
                <a:ea typeface="Fraunces Extra Bold" pitchFamily="34" charset="-122"/>
                <a:cs typeface="Fraunces Extra Bold" pitchFamily="34" charset="-120"/>
              </a:rPr>
              <a:t>F-statistic (12.23, p = 0.002)</a:t>
            </a:r>
            <a:endParaRPr lang="en-US" sz="1950" dirty="0"/>
          </a:p>
        </p:txBody>
      </p:sp>
      <p:sp>
        <p:nvSpPr>
          <p:cNvPr id="32" name="Text 30"/>
          <p:cNvSpPr/>
          <p:nvPr/>
        </p:nvSpPr>
        <p:spPr>
          <a:xfrm>
            <a:off x="7635478" y="6104215"/>
            <a:ext cx="5979795" cy="635079"/>
          </a:xfrm>
          <a:prstGeom prst="rect">
            <a:avLst/>
          </a:prstGeom>
          <a:noFill/>
          <a:ln/>
        </p:spPr>
        <p:txBody>
          <a:bodyPr wrap="square" lIns="0" tIns="0" rIns="0" bIns="0" rtlCol="0" anchor="t"/>
          <a:lstStyle/>
          <a:p>
            <a:pPr>
              <a:lnSpc>
                <a:spcPts val="2500"/>
              </a:lnSpc>
            </a:pPr>
            <a:r>
              <a:rPr lang="en-US" sz="1550" dirty="0">
                <a:solidFill>
                  <a:srgbClr val="405449"/>
                </a:solidFill>
                <a:latin typeface="Nobile" pitchFamily="34" charset="0"/>
                <a:ea typeface="Nobile" pitchFamily="34" charset="-122"/>
                <a:cs typeface="Nobile" pitchFamily="34" charset="-120"/>
              </a:rPr>
              <a:t>The model is statistically significant overall, meaning Average Interest Rate reliably predicts GCF Growth.</a:t>
            </a:r>
            <a:endParaRPr lang="en-US" sz="1550" dirty="0"/>
          </a:p>
        </p:txBody>
      </p:sp>
      <p:sp>
        <p:nvSpPr>
          <p:cNvPr id="33" name="Rectangle 32">
            <a:extLst>
              <a:ext uri="{FF2B5EF4-FFF2-40B4-BE49-F238E27FC236}">
                <a16:creationId xmlns:a16="http://schemas.microsoft.com/office/drawing/2014/main" id="{0A197FB9-8B30-F93F-D24E-46F16D18149A}"/>
              </a:ext>
            </a:extLst>
          </p:cNvPr>
          <p:cNvSpPr/>
          <p:nvPr/>
        </p:nvSpPr>
        <p:spPr>
          <a:xfrm>
            <a:off x="0" y="7730550"/>
            <a:ext cx="14630400" cy="499049"/>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25">
              <a:solidFill>
                <a:schemeClr val="accent6">
                  <a:lumMod val="20000"/>
                  <a:lumOff val="80000"/>
                </a:schemeClr>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89" y="793349"/>
            <a:ext cx="13042821" cy="1240155"/>
          </a:xfrm>
          <a:prstGeom prst="rect">
            <a:avLst/>
          </a:prstGeom>
          <a:noFill/>
          <a:ln/>
        </p:spPr>
        <p:txBody>
          <a:bodyPr wrap="square" lIns="0" tIns="0" rIns="0" bIns="0" rtlCol="0" anchor="t"/>
          <a:lstStyle/>
          <a:p>
            <a:pPr marL="0" indent="0" algn="l">
              <a:lnSpc>
                <a:spcPts val="4850"/>
              </a:lnSpc>
              <a:buNone/>
            </a:pPr>
            <a:r>
              <a:rPr lang="en-US" sz="3900" b="1" dirty="0">
                <a:solidFill>
                  <a:srgbClr val="3B4540"/>
                </a:solidFill>
                <a:latin typeface="Fraunces Extra Bold" pitchFamily="34" charset="0"/>
                <a:ea typeface="Fraunces Extra Bold" pitchFamily="34" charset="-122"/>
                <a:cs typeface="Fraunces Extra Bold" pitchFamily="34" charset="-120"/>
              </a:rPr>
              <a:t>Correlation Matrix: Relationships Between Variables</a:t>
            </a:r>
            <a:endParaRPr lang="en-US" sz="3900" dirty="0"/>
          </a:p>
        </p:txBody>
      </p:sp>
      <p:sp>
        <p:nvSpPr>
          <p:cNvPr id="3" name="Shape 1"/>
          <p:cNvSpPr/>
          <p:nvPr/>
        </p:nvSpPr>
        <p:spPr>
          <a:xfrm>
            <a:off x="1257663" y="1868401"/>
            <a:ext cx="11677554" cy="2680573"/>
          </a:xfrm>
          <a:prstGeom prst="roundRect">
            <a:avLst>
              <a:gd name="adj" fmla="val 6664"/>
            </a:avLst>
          </a:prstGeom>
          <a:noFill/>
          <a:ln w="7620">
            <a:solidFill>
              <a:srgbClr val="000000">
                <a:alpha val="8000"/>
              </a:srgbClr>
            </a:solidFill>
            <a:prstDash val="solid"/>
          </a:ln>
        </p:spPr>
      </p:sp>
      <p:sp>
        <p:nvSpPr>
          <p:cNvPr id="4" name="Shape 2"/>
          <p:cNvSpPr/>
          <p:nvPr/>
        </p:nvSpPr>
        <p:spPr>
          <a:xfrm>
            <a:off x="1265282" y="1876021"/>
            <a:ext cx="11663909" cy="888444"/>
          </a:xfrm>
          <a:prstGeom prst="rect">
            <a:avLst/>
          </a:prstGeom>
          <a:solidFill>
            <a:srgbClr val="FFFFFF">
              <a:alpha val="4000"/>
            </a:srgbClr>
          </a:solidFill>
          <a:ln/>
        </p:spPr>
      </p:sp>
      <p:sp>
        <p:nvSpPr>
          <p:cNvPr id="5" name="Text 3"/>
          <p:cNvSpPr/>
          <p:nvPr/>
        </p:nvSpPr>
        <p:spPr>
          <a:xfrm>
            <a:off x="1463759" y="2002704"/>
            <a:ext cx="3140529" cy="317540"/>
          </a:xfrm>
          <a:prstGeom prst="rect">
            <a:avLst/>
          </a:prstGeom>
          <a:noFill/>
          <a:ln/>
        </p:spPr>
        <p:txBody>
          <a:bodyPr wrap="none" lIns="0" tIns="0" rIns="0" bIns="0" rtlCol="0" anchor="t"/>
          <a:lstStyle/>
          <a:p>
            <a:pPr marL="0" indent="0" algn="l">
              <a:lnSpc>
                <a:spcPts val="2500"/>
              </a:lnSpc>
              <a:buNone/>
            </a:pPr>
            <a:r>
              <a:rPr lang="en-US" sz="1550" dirty="0">
                <a:solidFill>
                  <a:srgbClr val="405449"/>
                </a:solidFill>
                <a:latin typeface="Nobile" pitchFamily="34" charset="0"/>
                <a:ea typeface="Nobile" pitchFamily="34" charset="-122"/>
                <a:cs typeface="Nobile" pitchFamily="34" charset="-120"/>
              </a:rPr>
              <a:t>Avg Interest Rate &amp; GCF Growth</a:t>
            </a:r>
            <a:endParaRPr lang="en-US" sz="1550" dirty="0"/>
          </a:p>
        </p:txBody>
      </p:sp>
      <p:sp>
        <p:nvSpPr>
          <p:cNvPr id="6" name="Text 4"/>
          <p:cNvSpPr/>
          <p:nvPr/>
        </p:nvSpPr>
        <p:spPr>
          <a:xfrm>
            <a:off x="5375795" y="2002704"/>
            <a:ext cx="3137118" cy="317540"/>
          </a:xfrm>
          <a:prstGeom prst="rect">
            <a:avLst/>
          </a:prstGeom>
          <a:noFill/>
          <a:ln/>
        </p:spPr>
        <p:txBody>
          <a:bodyPr wrap="none" lIns="0" tIns="0" rIns="0" bIns="0" rtlCol="0" anchor="t"/>
          <a:lstStyle/>
          <a:p>
            <a:pPr marL="0" indent="0" algn="l">
              <a:lnSpc>
                <a:spcPts val="2500"/>
              </a:lnSpc>
              <a:buNone/>
            </a:pPr>
            <a:r>
              <a:rPr lang="en-US" sz="1550" dirty="0">
                <a:solidFill>
                  <a:srgbClr val="405449"/>
                </a:solidFill>
                <a:latin typeface="Nobile" pitchFamily="34" charset="0"/>
                <a:ea typeface="Nobile" pitchFamily="34" charset="-122"/>
                <a:cs typeface="Nobile" pitchFamily="34" charset="-120"/>
              </a:rPr>
              <a:t>–0.598</a:t>
            </a:r>
            <a:endParaRPr lang="en-US" sz="1550" dirty="0"/>
          </a:p>
        </p:txBody>
      </p:sp>
      <p:sp>
        <p:nvSpPr>
          <p:cNvPr id="7" name="Text 5"/>
          <p:cNvSpPr/>
          <p:nvPr/>
        </p:nvSpPr>
        <p:spPr>
          <a:xfrm>
            <a:off x="7899991" y="2002704"/>
            <a:ext cx="4880343" cy="635079"/>
          </a:xfrm>
          <a:prstGeom prst="rect">
            <a:avLst/>
          </a:prstGeom>
          <a:noFill/>
          <a:ln/>
        </p:spPr>
        <p:txBody>
          <a:bodyPr wrap="square" lIns="0" tIns="0" rIns="0" bIns="0" rtlCol="0" anchor="t"/>
          <a:lstStyle/>
          <a:p>
            <a:pPr marL="0" indent="0" algn="l">
              <a:lnSpc>
                <a:spcPts val="2500"/>
              </a:lnSpc>
              <a:buNone/>
            </a:pPr>
            <a:r>
              <a:rPr lang="en-US" sz="1550" dirty="0">
                <a:solidFill>
                  <a:srgbClr val="405449"/>
                </a:solidFill>
                <a:latin typeface="Nobile" pitchFamily="34" charset="0"/>
                <a:ea typeface="Nobile" pitchFamily="34" charset="-122"/>
                <a:cs typeface="Nobile" pitchFamily="34" charset="-120"/>
              </a:rPr>
              <a:t>Moderate negative relationship: when investment growth increases, interest rates tend to decrease.</a:t>
            </a:r>
            <a:endParaRPr lang="en-US" sz="1550" dirty="0"/>
          </a:p>
        </p:txBody>
      </p:sp>
      <p:sp>
        <p:nvSpPr>
          <p:cNvPr id="8" name="Shape 6"/>
          <p:cNvSpPr/>
          <p:nvPr/>
        </p:nvSpPr>
        <p:spPr>
          <a:xfrm>
            <a:off x="1265282" y="2764465"/>
            <a:ext cx="11663909" cy="888444"/>
          </a:xfrm>
          <a:prstGeom prst="rect">
            <a:avLst/>
          </a:prstGeom>
          <a:solidFill>
            <a:srgbClr val="000000">
              <a:alpha val="4000"/>
            </a:srgbClr>
          </a:solidFill>
          <a:ln/>
        </p:spPr>
      </p:sp>
      <p:sp>
        <p:nvSpPr>
          <p:cNvPr id="9" name="Text 7"/>
          <p:cNvSpPr/>
          <p:nvPr/>
        </p:nvSpPr>
        <p:spPr>
          <a:xfrm>
            <a:off x="1463759" y="2891148"/>
            <a:ext cx="3140529" cy="317540"/>
          </a:xfrm>
          <a:prstGeom prst="rect">
            <a:avLst/>
          </a:prstGeom>
          <a:noFill/>
          <a:ln/>
        </p:spPr>
        <p:txBody>
          <a:bodyPr wrap="none" lIns="0" tIns="0" rIns="0" bIns="0" rtlCol="0" anchor="t"/>
          <a:lstStyle/>
          <a:p>
            <a:pPr marL="0" indent="0" algn="l">
              <a:lnSpc>
                <a:spcPts val="2500"/>
              </a:lnSpc>
              <a:buNone/>
            </a:pPr>
            <a:r>
              <a:rPr lang="en-US" sz="1550" dirty="0">
                <a:solidFill>
                  <a:srgbClr val="405449"/>
                </a:solidFill>
                <a:latin typeface="Nobile" pitchFamily="34" charset="0"/>
                <a:ea typeface="Nobile" pitchFamily="34" charset="-122"/>
                <a:cs typeface="Nobile" pitchFamily="34" charset="-120"/>
              </a:rPr>
              <a:t>Year &amp; Avg Interest Rate</a:t>
            </a:r>
            <a:endParaRPr lang="en-US" sz="1550" dirty="0"/>
          </a:p>
        </p:txBody>
      </p:sp>
      <p:sp>
        <p:nvSpPr>
          <p:cNvPr id="10" name="Text 8"/>
          <p:cNvSpPr/>
          <p:nvPr/>
        </p:nvSpPr>
        <p:spPr>
          <a:xfrm>
            <a:off x="5375795" y="2891148"/>
            <a:ext cx="3137118" cy="317540"/>
          </a:xfrm>
          <a:prstGeom prst="rect">
            <a:avLst/>
          </a:prstGeom>
          <a:noFill/>
          <a:ln/>
        </p:spPr>
        <p:txBody>
          <a:bodyPr wrap="none" lIns="0" tIns="0" rIns="0" bIns="0" rtlCol="0" anchor="t"/>
          <a:lstStyle/>
          <a:p>
            <a:pPr marL="0" indent="0" algn="l">
              <a:lnSpc>
                <a:spcPts val="2500"/>
              </a:lnSpc>
              <a:buNone/>
            </a:pPr>
            <a:r>
              <a:rPr lang="en-US" sz="1550" dirty="0">
                <a:solidFill>
                  <a:srgbClr val="405449"/>
                </a:solidFill>
                <a:latin typeface="Nobile" pitchFamily="34" charset="0"/>
                <a:ea typeface="Nobile" pitchFamily="34" charset="-122"/>
                <a:cs typeface="Nobile" pitchFamily="34" charset="-120"/>
              </a:rPr>
              <a:t>0.135</a:t>
            </a:r>
            <a:endParaRPr lang="en-US" sz="1550" dirty="0"/>
          </a:p>
        </p:txBody>
      </p:sp>
      <p:sp>
        <p:nvSpPr>
          <p:cNvPr id="11" name="Text 9"/>
          <p:cNvSpPr/>
          <p:nvPr/>
        </p:nvSpPr>
        <p:spPr>
          <a:xfrm>
            <a:off x="7899992" y="2891148"/>
            <a:ext cx="4880342" cy="635079"/>
          </a:xfrm>
          <a:prstGeom prst="rect">
            <a:avLst/>
          </a:prstGeom>
          <a:noFill/>
          <a:ln/>
        </p:spPr>
        <p:txBody>
          <a:bodyPr wrap="square" lIns="0" tIns="0" rIns="0" bIns="0" rtlCol="0" anchor="t"/>
          <a:lstStyle/>
          <a:p>
            <a:pPr marL="0" indent="0" algn="l">
              <a:lnSpc>
                <a:spcPts val="2500"/>
              </a:lnSpc>
              <a:buNone/>
            </a:pPr>
            <a:r>
              <a:rPr lang="en-US" sz="1550" dirty="0">
                <a:solidFill>
                  <a:srgbClr val="405449"/>
                </a:solidFill>
                <a:latin typeface="Nobile" pitchFamily="34" charset="0"/>
                <a:ea typeface="Nobile" pitchFamily="34" charset="-122"/>
                <a:cs typeface="Nobile" pitchFamily="34" charset="-120"/>
              </a:rPr>
              <a:t>Very weak positive relationship: interest rates slightly increase over time, but not strongly.</a:t>
            </a:r>
            <a:endParaRPr lang="en-US" sz="1550" dirty="0"/>
          </a:p>
        </p:txBody>
      </p:sp>
      <p:sp>
        <p:nvSpPr>
          <p:cNvPr id="12" name="Shape 10"/>
          <p:cNvSpPr/>
          <p:nvPr/>
        </p:nvSpPr>
        <p:spPr>
          <a:xfrm>
            <a:off x="1265282" y="3652910"/>
            <a:ext cx="11663909" cy="888444"/>
          </a:xfrm>
          <a:prstGeom prst="rect">
            <a:avLst/>
          </a:prstGeom>
          <a:solidFill>
            <a:srgbClr val="FFFFFF">
              <a:alpha val="4000"/>
            </a:srgbClr>
          </a:solidFill>
          <a:ln/>
        </p:spPr>
      </p:sp>
      <p:sp>
        <p:nvSpPr>
          <p:cNvPr id="13" name="Text 11"/>
          <p:cNvSpPr/>
          <p:nvPr/>
        </p:nvSpPr>
        <p:spPr>
          <a:xfrm>
            <a:off x="1463759" y="3779592"/>
            <a:ext cx="3140529" cy="317540"/>
          </a:xfrm>
          <a:prstGeom prst="rect">
            <a:avLst/>
          </a:prstGeom>
          <a:noFill/>
          <a:ln/>
        </p:spPr>
        <p:txBody>
          <a:bodyPr wrap="none" lIns="0" tIns="0" rIns="0" bIns="0" rtlCol="0" anchor="t"/>
          <a:lstStyle/>
          <a:p>
            <a:pPr marL="0" indent="0" algn="l">
              <a:lnSpc>
                <a:spcPts val="2500"/>
              </a:lnSpc>
              <a:buNone/>
            </a:pPr>
            <a:r>
              <a:rPr lang="en-US" sz="1550" dirty="0">
                <a:solidFill>
                  <a:srgbClr val="405449"/>
                </a:solidFill>
                <a:latin typeface="Nobile" pitchFamily="34" charset="0"/>
                <a:ea typeface="Nobile" pitchFamily="34" charset="-122"/>
                <a:cs typeface="Nobile" pitchFamily="34" charset="-120"/>
              </a:rPr>
              <a:t>Year &amp; GCF Growth</a:t>
            </a:r>
            <a:endParaRPr lang="en-US" sz="1550" dirty="0"/>
          </a:p>
        </p:txBody>
      </p:sp>
      <p:sp>
        <p:nvSpPr>
          <p:cNvPr id="14" name="Text 12"/>
          <p:cNvSpPr/>
          <p:nvPr/>
        </p:nvSpPr>
        <p:spPr>
          <a:xfrm>
            <a:off x="5375795" y="3779592"/>
            <a:ext cx="3137118" cy="317540"/>
          </a:xfrm>
          <a:prstGeom prst="rect">
            <a:avLst/>
          </a:prstGeom>
          <a:noFill/>
          <a:ln/>
        </p:spPr>
        <p:txBody>
          <a:bodyPr wrap="none" lIns="0" tIns="0" rIns="0" bIns="0" rtlCol="0" anchor="t"/>
          <a:lstStyle/>
          <a:p>
            <a:pPr marL="0" indent="0" algn="l">
              <a:lnSpc>
                <a:spcPts val="2500"/>
              </a:lnSpc>
              <a:buNone/>
            </a:pPr>
            <a:r>
              <a:rPr lang="en-US" sz="1550" dirty="0">
                <a:solidFill>
                  <a:srgbClr val="405449"/>
                </a:solidFill>
                <a:latin typeface="Nobile" pitchFamily="34" charset="0"/>
                <a:ea typeface="Nobile" pitchFamily="34" charset="-122"/>
                <a:cs typeface="Nobile" pitchFamily="34" charset="-120"/>
              </a:rPr>
              <a:t>–0.341</a:t>
            </a:r>
            <a:endParaRPr lang="en-US" sz="1550" dirty="0"/>
          </a:p>
        </p:txBody>
      </p:sp>
      <p:sp>
        <p:nvSpPr>
          <p:cNvPr id="15" name="Text 13"/>
          <p:cNvSpPr/>
          <p:nvPr/>
        </p:nvSpPr>
        <p:spPr>
          <a:xfrm>
            <a:off x="7899993" y="3779592"/>
            <a:ext cx="4678324" cy="635079"/>
          </a:xfrm>
          <a:prstGeom prst="rect">
            <a:avLst/>
          </a:prstGeom>
          <a:noFill/>
          <a:ln/>
        </p:spPr>
        <p:txBody>
          <a:bodyPr wrap="square" lIns="0" tIns="0" rIns="0" bIns="0" rtlCol="0" anchor="t"/>
          <a:lstStyle/>
          <a:p>
            <a:pPr marL="0" indent="0" algn="l">
              <a:lnSpc>
                <a:spcPts val="2500"/>
              </a:lnSpc>
              <a:buNone/>
            </a:pPr>
            <a:r>
              <a:rPr lang="en-US" sz="1550" dirty="0">
                <a:solidFill>
                  <a:srgbClr val="405449"/>
                </a:solidFill>
                <a:latin typeface="Nobile" pitchFamily="34" charset="0"/>
                <a:ea typeface="Nobile" pitchFamily="34" charset="-122"/>
                <a:cs typeface="Nobile" pitchFamily="34" charset="-120"/>
              </a:rPr>
              <a:t>Weak negative relationship: Investment growth slightly decreases over the years.</a:t>
            </a:r>
            <a:endParaRPr lang="en-US" sz="1550" dirty="0"/>
          </a:p>
        </p:txBody>
      </p:sp>
      <p:pic>
        <p:nvPicPr>
          <p:cNvPr id="16" name="Picture 15">
            <a:extLst>
              <a:ext uri="{FF2B5EF4-FFF2-40B4-BE49-F238E27FC236}">
                <a16:creationId xmlns:a16="http://schemas.microsoft.com/office/drawing/2014/main" id="{622B1B11-B2E1-63AB-99DF-9F54B76EF60D}"/>
              </a:ext>
            </a:extLst>
          </p:cNvPr>
          <p:cNvPicPr>
            <a:picLocks noChangeAspect="1"/>
          </p:cNvPicPr>
          <p:nvPr/>
        </p:nvPicPr>
        <p:blipFill>
          <a:blip r:embed="rId3"/>
          <a:stretch>
            <a:fillRect/>
          </a:stretch>
        </p:blipFill>
        <p:spPr>
          <a:xfrm>
            <a:off x="1265281" y="4993195"/>
            <a:ext cx="11153547" cy="2322005"/>
          </a:xfrm>
          <a:prstGeom prst="rect">
            <a:avLst/>
          </a:prstGeom>
        </p:spPr>
      </p:pic>
      <p:sp>
        <p:nvSpPr>
          <p:cNvPr id="17" name="Rectangle 16">
            <a:extLst>
              <a:ext uri="{FF2B5EF4-FFF2-40B4-BE49-F238E27FC236}">
                <a16:creationId xmlns:a16="http://schemas.microsoft.com/office/drawing/2014/main" id="{92955B8B-17E3-F1FA-593C-82E069F61EE4}"/>
              </a:ext>
            </a:extLst>
          </p:cNvPr>
          <p:cNvSpPr/>
          <p:nvPr/>
        </p:nvSpPr>
        <p:spPr>
          <a:xfrm>
            <a:off x="0" y="7730550"/>
            <a:ext cx="14630400" cy="499049"/>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25">
              <a:solidFill>
                <a:schemeClr val="accent6">
                  <a:lumMod val="20000"/>
                  <a:lumOff val="80000"/>
                </a:schemeClr>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p:nvPr/>
        </p:nvSpPr>
        <p:spPr>
          <a:xfrm>
            <a:off x="6280190" y="1581150"/>
            <a:ext cx="7556421" cy="1240155"/>
          </a:xfrm>
          <a:prstGeom prst="rect">
            <a:avLst/>
          </a:prstGeom>
          <a:noFill/>
          <a:ln/>
        </p:spPr>
        <p:txBody>
          <a:bodyPr wrap="square" lIns="0" tIns="0" rIns="0" bIns="0" rtlCol="0" anchor="t"/>
          <a:lstStyle/>
          <a:p>
            <a:pPr marL="0" indent="0" algn="l">
              <a:lnSpc>
                <a:spcPts val="4850"/>
              </a:lnSpc>
              <a:buNone/>
            </a:pPr>
            <a:r>
              <a:rPr lang="en-US" sz="3900" b="1" dirty="0">
                <a:solidFill>
                  <a:srgbClr val="3B4540"/>
                </a:solidFill>
                <a:latin typeface="Fraunces Extra Bold" pitchFamily="34" charset="0"/>
                <a:ea typeface="Fraunces Extra Bold" pitchFamily="34" charset="-122"/>
                <a:cs typeface="Fraunces Extra Bold" pitchFamily="34" charset="-120"/>
              </a:rPr>
              <a:t>95% Confidence Interval: Precision of Estimates</a:t>
            </a:r>
            <a:endParaRPr lang="en-US" sz="3900" dirty="0"/>
          </a:p>
        </p:txBody>
      </p:sp>
      <p:sp>
        <p:nvSpPr>
          <p:cNvPr id="4" name="Shape 1"/>
          <p:cNvSpPr/>
          <p:nvPr/>
        </p:nvSpPr>
        <p:spPr>
          <a:xfrm>
            <a:off x="6280190" y="3118961"/>
            <a:ext cx="7556421" cy="1506736"/>
          </a:xfrm>
          <a:prstGeom prst="roundRect">
            <a:avLst>
              <a:gd name="adj" fmla="val 7282"/>
            </a:avLst>
          </a:prstGeom>
          <a:solidFill>
            <a:srgbClr val="FAFFFA"/>
          </a:solidFill>
          <a:ln w="22860">
            <a:solidFill>
              <a:srgbClr val="CED9CE"/>
            </a:solidFill>
            <a:prstDash val="solid"/>
          </a:ln>
        </p:spPr>
      </p:sp>
      <p:sp>
        <p:nvSpPr>
          <p:cNvPr id="5" name="Shape 2"/>
          <p:cNvSpPr/>
          <p:nvPr/>
        </p:nvSpPr>
        <p:spPr>
          <a:xfrm>
            <a:off x="6257330" y="3118961"/>
            <a:ext cx="91440" cy="1506736"/>
          </a:xfrm>
          <a:prstGeom prst="roundRect">
            <a:avLst>
              <a:gd name="adj" fmla="val 195349"/>
            </a:avLst>
          </a:prstGeom>
          <a:solidFill>
            <a:srgbClr val="438951"/>
          </a:solidFill>
          <a:ln/>
        </p:spPr>
      </p:sp>
      <p:sp>
        <p:nvSpPr>
          <p:cNvPr id="6" name="Text 3"/>
          <p:cNvSpPr/>
          <p:nvPr/>
        </p:nvSpPr>
        <p:spPr>
          <a:xfrm>
            <a:off x="6569988" y="3340179"/>
            <a:ext cx="3039666" cy="310158"/>
          </a:xfrm>
          <a:prstGeom prst="rect">
            <a:avLst/>
          </a:prstGeom>
          <a:noFill/>
          <a:ln/>
        </p:spPr>
        <p:txBody>
          <a:bodyPr wrap="none" lIns="0" tIns="0" rIns="0" bIns="0" rtlCol="0" anchor="t"/>
          <a:lstStyle/>
          <a:p>
            <a:pPr marL="0" indent="0" algn="l">
              <a:lnSpc>
                <a:spcPts val="2400"/>
              </a:lnSpc>
              <a:buNone/>
            </a:pPr>
            <a:r>
              <a:rPr lang="en-US" sz="1950" b="1" dirty="0">
                <a:solidFill>
                  <a:srgbClr val="405449"/>
                </a:solidFill>
                <a:latin typeface="Fraunces Extra Bold" pitchFamily="34" charset="0"/>
                <a:ea typeface="Fraunces Extra Bold" pitchFamily="34" charset="-122"/>
                <a:cs typeface="Fraunces Extra Bold" pitchFamily="34" charset="-120"/>
              </a:rPr>
              <a:t>Intercept (7.84 – 25.16)</a:t>
            </a:r>
            <a:endParaRPr lang="en-US" sz="1950" dirty="0"/>
          </a:p>
        </p:txBody>
      </p:sp>
      <p:sp>
        <p:nvSpPr>
          <p:cNvPr id="7" name="Text 4"/>
          <p:cNvSpPr/>
          <p:nvPr/>
        </p:nvSpPr>
        <p:spPr>
          <a:xfrm>
            <a:off x="6569988" y="3769400"/>
            <a:ext cx="7045404" cy="635079"/>
          </a:xfrm>
          <a:prstGeom prst="rect">
            <a:avLst/>
          </a:prstGeom>
          <a:noFill/>
          <a:ln/>
        </p:spPr>
        <p:txBody>
          <a:bodyPr wrap="square" lIns="0" tIns="0" rIns="0" bIns="0" rtlCol="0" anchor="t"/>
          <a:lstStyle/>
          <a:p>
            <a:pPr>
              <a:lnSpc>
                <a:spcPts val="2500"/>
              </a:lnSpc>
            </a:pPr>
            <a:r>
              <a:rPr lang="en-US" sz="1550" dirty="0">
                <a:solidFill>
                  <a:srgbClr val="405449"/>
                </a:solidFill>
                <a:latin typeface="Nobile" pitchFamily="34" charset="0"/>
                <a:ea typeface="Nobile" pitchFamily="34" charset="-122"/>
                <a:cs typeface="Nobile" pitchFamily="34" charset="-120"/>
              </a:rPr>
              <a:t>We are 95% confident that when Average Interest Rate is 0%, the GCF Growth lies between 7.84% and 25.16%.</a:t>
            </a:r>
            <a:endParaRPr lang="en-US" sz="1550" dirty="0"/>
          </a:p>
        </p:txBody>
      </p:sp>
      <p:sp>
        <p:nvSpPr>
          <p:cNvPr id="8" name="Shape 5"/>
          <p:cNvSpPr/>
          <p:nvPr/>
        </p:nvSpPr>
        <p:spPr>
          <a:xfrm>
            <a:off x="6280190" y="4824055"/>
            <a:ext cx="7556421" cy="1824276"/>
          </a:xfrm>
          <a:prstGeom prst="roundRect">
            <a:avLst>
              <a:gd name="adj" fmla="val 6015"/>
            </a:avLst>
          </a:prstGeom>
          <a:solidFill>
            <a:srgbClr val="FAFFFA"/>
          </a:solidFill>
          <a:ln w="22860">
            <a:solidFill>
              <a:srgbClr val="CED9CE"/>
            </a:solidFill>
            <a:prstDash val="solid"/>
          </a:ln>
        </p:spPr>
      </p:sp>
      <p:sp>
        <p:nvSpPr>
          <p:cNvPr id="9" name="Shape 6"/>
          <p:cNvSpPr/>
          <p:nvPr/>
        </p:nvSpPr>
        <p:spPr>
          <a:xfrm>
            <a:off x="6257330" y="4824055"/>
            <a:ext cx="91440" cy="1824276"/>
          </a:xfrm>
          <a:prstGeom prst="roundRect">
            <a:avLst>
              <a:gd name="adj" fmla="val 195349"/>
            </a:avLst>
          </a:prstGeom>
          <a:solidFill>
            <a:srgbClr val="438951"/>
          </a:solidFill>
          <a:ln/>
        </p:spPr>
      </p:sp>
      <p:sp>
        <p:nvSpPr>
          <p:cNvPr id="10" name="Text 7"/>
          <p:cNvSpPr/>
          <p:nvPr/>
        </p:nvSpPr>
        <p:spPr>
          <a:xfrm>
            <a:off x="6569988" y="5045273"/>
            <a:ext cx="3677007" cy="310158"/>
          </a:xfrm>
          <a:prstGeom prst="rect">
            <a:avLst/>
          </a:prstGeom>
          <a:noFill/>
          <a:ln/>
        </p:spPr>
        <p:txBody>
          <a:bodyPr wrap="none" lIns="0" tIns="0" rIns="0" bIns="0" rtlCol="0" anchor="t"/>
          <a:lstStyle/>
          <a:p>
            <a:pPr marL="0" indent="0" algn="l">
              <a:lnSpc>
                <a:spcPts val="2400"/>
              </a:lnSpc>
              <a:buNone/>
            </a:pPr>
            <a:r>
              <a:rPr lang="en-US" sz="1950" b="1" dirty="0">
                <a:solidFill>
                  <a:srgbClr val="405449"/>
                </a:solidFill>
                <a:latin typeface="Fraunces Extra Bold" pitchFamily="34" charset="0"/>
                <a:ea typeface="Fraunces Extra Bold" pitchFamily="34" charset="-122"/>
                <a:cs typeface="Fraunces Extra Bold" pitchFamily="34" charset="-120"/>
              </a:rPr>
              <a:t>GCF Growth (–2.09 – –0.534)</a:t>
            </a:r>
            <a:endParaRPr lang="en-US" sz="1950" dirty="0"/>
          </a:p>
        </p:txBody>
      </p:sp>
      <p:sp>
        <p:nvSpPr>
          <p:cNvPr id="11" name="Text 8"/>
          <p:cNvSpPr/>
          <p:nvPr/>
        </p:nvSpPr>
        <p:spPr>
          <a:xfrm>
            <a:off x="6569988" y="5474494"/>
            <a:ext cx="7045404" cy="952619"/>
          </a:xfrm>
          <a:prstGeom prst="rect">
            <a:avLst/>
          </a:prstGeom>
          <a:noFill/>
          <a:ln/>
        </p:spPr>
        <p:txBody>
          <a:bodyPr wrap="square" lIns="0" tIns="0" rIns="0" bIns="0" rtlCol="0" anchor="t"/>
          <a:lstStyle/>
          <a:p>
            <a:pPr>
              <a:lnSpc>
                <a:spcPts val="2500"/>
              </a:lnSpc>
            </a:pPr>
            <a:r>
              <a:rPr lang="en-US" sz="1550" dirty="0">
                <a:solidFill>
                  <a:srgbClr val="405449"/>
                </a:solidFill>
                <a:latin typeface="Nobile" pitchFamily="34" charset="0"/>
                <a:ea typeface="Nobile" pitchFamily="34" charset="-122"/>
                <a:cs typeface="Nobile" pitchFamily="34" charset="-120"/>
              </a:rPr>
              <a:t>We are 95% confident that for every 1% increase in Average Interest Rate, the GCF Growth decreases between 0.534% and 2.09%. This confirms a negative relationship.</a:t>
            </a:r>
            <a:endParaRPr lang="en-US" sz="1550" dirty="0"/>
          </a:p>
        </p:txBody>
      </p:sp>
      <p:sp>
        <p:nvSpPr>
          <p:cNvPr id="15" name="Rectangle 14">
            <a:extLst>
              <a:ext uri="{FF2B5EF4-FFF2-40B4-BE49-F238E27FC236}">
                <a16:creationId xmlns:a16="http://schemas.microsoft.com/office/drawing/2014/main" id="{67AA5589-6582-B699-FA21-73289D2F0950}"/>
              </a:ext>
            </a:extLst>
          </p:cNvPr>
          <p:cNvSpPr/>
          <p:nvPr/>
        </p:nvSpPr>
        <p:spPr>
          <a:xfrm>
            <a:off x="0" y="7730550"/>
            <a:ext cx="14630400" cy="499049"/>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25">
              <a:solidFill>
                <a:schemeClr val="accent6">
                  <a:lumMod val="20000"/>
                  <a:lumOff val="80000"/>
                </a:schemeClr>
              </a:solidFill>
            </a:endParaRPr>
          </a:p>
        </p:txBody>
      </p:sp>
      <p:pic>
        <p:nvPicPr>
          <p:cNvPr id="12" name="Picture 11">
            <a:extLst>
              <a:ext uri="{FF2B5EF4-FFF2-40B4-BE49-F238E27FC236}">
                <a16:creationId xmlns:a16="http://schemas.microsoft.com/office/drawing/2014/main" id="{D6D94D3C-A28B-3C18-CB80-B102090FBFF2}"/>
              </a:ext>
            </a:extLst>
          </p:cNvPr>
          <p:cNvPicPr>
            <a:picLocks noChangeAspect="1"/>
          </p:cNvPicPr>
          <p:nvPr/>
        </p:nvPicPr>
        <p:blipFill>
          <a:blip r:embed="rId3"/>
          <a:stretch>
            <a:fillRect/>
          </a:stretch>
        </p:blipFill>
        <p:spPr>
          <a:xfrm>
            <a:off x="548331" y="3264195"/>
            <a:ext cx="5487780" cy="248801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480905"/>
          </a:xfrm>
          <a:prstGeom prst="rect">
            <a:avLst/>
          </a:prstGeom>
        </p:spPr>
      </p:pic>
      <p:sp>
        <p:nvSpPr>
          <p:cNvPr id="3" name="Text 0"/>
          <p:cNvSpPr/>
          <p:nvPr/>
        </p:nvSpPr>
        <p:spPr>
          <a:xfrm>
            <a:off x="793790" y="3201829"/>
            <a:ext cx="9307711" cy="620078"/>
          </a:xfrm>
          <a:prstGeom prst="rect">
            <a:avLst/>
          </a:prstGeom>
          <a:noFill/>
          <a:ln/>
        </p:spPr>
        <p:txBody>
          <a:bodyPr wrap="none" lIns="0" tIns="0" rIns="0" bIns="0" rtlCol="0" anchor="t"/>
          <a:lstStyle/>
          <a:p>
            <a:pPr marL="0" indent="0" algn="l">
              <a:lnSpc>
                <a:spcPts val="4850"/>
              </a:lnSpc>
              <a:buNone/>
            </a:pPr>
            <a:r>
              <a:rPr lang="en-US" sz="3900" b="1" dirty="0">
                <a:solidFill>
                  <a:srgbClr val="3B4540"/>
                </a:solidFill>
                <a:latin typeface="Fraunces Extra Bold" pitchFamily="34" charset="0"/>
                <a:ea typeface="Fraunces Extra Bold" pitchFamily="34" charset="-122"/>
                <a:cs typeface="Fraunces Extra Bold" pitchFamily="34" charset="-120"/>
              </a:rPr>
              <a:t>Real-World Applications of Research</a:t>
            </a:r>
            <a:endParaRPr lang="en-US" sz="3900" dirty="0"/>
          </a:p>
        </p:txBody>
      </p:sp>
      <p:sp>
        <p:nvSpPr>
          <p:cNvPr id="4" name="Text 1"/>
          <p:cNvSpPr/>
          <p:nvPr/>
        </p:nvSpPr>
        <p:spPr>
          <a:xfrm>
            <a:off x="793790" y="4119563"/>
            <a:ext cx="13042821" cy="317540"/>
          </a:xfrm>
          <a:prstGeom prst="rect">
            <a:avLst/>
          </a:prstGeom>
          <a:noFill/>
          <a:ln/>
        </p:spPr>
        <p:txBody>
          <a:bodyPr wrap="none" lIns="0" tIns="0" rIns="0" bIns="0" rtlCol="0" anchor="t"/>
          <a:lstStyle/>
          <a:p>
            <a:pPr marL="0" indent="0" algn="l">
              <a:lnSpc>
                <a:spcPts val="2500"/>
              </a:lnSpc>
              <a:buNone/>
            </a:pPr>
            <a:r>
              <a:rPr lang="en-US" sz="1550" dirty="0">
                <a:solidFill>
                  <a:srgbClr val="405449"/>
                </a:solidFill>
                <a:latin typeface="Nobile" pitchFamily="34" charset="0"/>
                <a:ea typeface="Nobile" pitchFamily="34" charset="-122"/>
                <a:cs typeface="Nobile" pitchFamily="34" charset="-120"/>
              </a:rPr>
              <a:t>Understanding the link between interest rates and investment is vital for informed decision-making by policymakers and businesses.</a:t>
            </a:r>
            <a:endParaRPr lang="en-US" sz="1550" dirty="0"/>
          </a:p>
        </p:txBody>
      </p:sp>
      <p:sp>
        <p:nvSpPr>
          <p:cNvPr id="5" name="Text 2"/>
          <p:cNvSpPr/>
          <p:nvPr/>
        </p:nvSpPr>
        <p:spPr>
          <a:xfrm>
            <a:off x="793790" y="4660344"/>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405449"/>
                </a:solidFill>
                <a:latin typeface="Fraunces Light" pitchFamily="34" charset="0"/>
                <a:ea typeface="Fraunces Light" pitchFamily="34" charset="-122"/>
                <a:cs typeface="Fraunces Light" pitchFamily="34" charset="-120"/>
              </a:rPr>
              <a:t>01</a:t>
            </a:r>
            <a:endParaRPr lang="en-US" sz="1550" dirty="0"/>
          </a:p>
        </p:txBody>
      </p:sp>
      <p:sp>
        <p:nvSpPr>
          <p:cNvPr id="6" name="Shape 3"/>
          <p:cNvSpPr/>
          <p:nvPr/>
        </p:nvSpPr>
        <p:spPr>
          <a:xfrm>
            <a:off x="793790" y="4974669"/>
            <a:ext cx="4215289" cy="22860"/>
          </a:xfrm>
          <a:prstGeom prst="rect">
            <a:avLst/>
          </a:prstGeom>
          <a:solidFill>
            <a:srgbClr val="438951"/>
          </a:solidFill>
          <a:ln/>
        </p:spPr>
      </p:sp>
      <p:sp>
        <p:nvSpPr>
          <p:cNvPr id="7" name="Text 4"/>
          <p:cNvSpPr/>
          <p:nvPr/>
        </p:nvSpPr>
        <p:spPr>
          <a:xfrm>
            <a:off x="793790" y="5119568"/>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05449"/>
                </a:solidFill>
                <a:latin typeface="Fraunces Extra Bold" pitchFamily="34" charset="0"/>
                <a:ea typeface="Fraunces Extra Bold" pitchFamily="34" charset="-122"/>
                <a:cs typeface="Fraunces Extra Bold" pitchFamily="34" charset="-120"/>
              </a:rPr>
              <a:t>For Policymakers</a:t>
            </a:r>
            <a:endParaRPr lang="en-US" sz="1950" dirty="0"/>
          </a:p>
        </p:txBody>
      </p:sp>
      <p:sp>
        <p:nvSpPr>
          <p:cNvPr id="8" name="Text 5"/>
          <p:cNvSpPr/>
          <p:nvPr/>
        </p:nvSpPr>
        <p:spPr>
          <a:xfrm>
            <a:off x="793790" y="5548789"/>
            <a:ext cx="4215289" cy="1270159"/>
          </a:xfrm>
          <a:prstGeom prst="rect">
            <a:avLst/>
          </a:prstGeom>
          <a:noFill/>
          <a:ln/>
        </p:spPr>
        <p:txBody>
          <a:bodyPr wrap="square" lIns="0" tIns="0" rIns="0" bIns="0" rtlCol="0" anchor="t"/>
          <a:lstStyle/>
          <a:p>
            <a:pPr marL="0" indent="0" algn="l">
              <a:lnSpc>
                <a:spcPts val="2500"/>
              </a:lnSpc>
              <a:buNone/>
            </a:pPr>
            <a:r>
              <a:rPr lang="en-US" sz="1550" dirty="0">
                <a:solidFill>
                  <a:srgbClr val="405449"/>
                </a:solidFill>
                <a:latin typeface="Nobile" pitchFamily="34" charset="0"/>
                <a:ea typeface="Nobile" pitchFamily="34" charset="-122"/>
                <a:cs typeface="Nobile" pitchFamily="34" charset="-120"/>
              </a:rPr>
              <a:t>Central banks can adjust interest rates to encourage economic growth. Lowering rates can stimulate business investment in infrastructure and technology.</a:t>
            </a:r>
            <a:endParaRPr lang="en-US" sz="1550" dirty="0"/>
          </a:p>
        </p:txBody>
      </p:sp>
      <p:sp>
        <p:nvSpPr>
          <p:cNvPr id="9" name="Text 6"/>
          <p:cNvSpPr/>
          <p:nvPr/>
        </p:nvSpPr>
        <p:spPr>
          <a:xfrm>
            <a:off x="5207437" y="4660344"/>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405449"/>
                </a:solidFill>
                <a:latin typeface="Fraunces Light" pitchFamily="34" charset="0"/>
                <a:ea typeface="Fraunces Light" pitchFamily="34" charset="-122"/>
                <a:cs typeface="Fraunces Light" pitchFamily="34" charset="-120"/>
              </a:rPr>
              <a:t>02</a:t>
            </a:r>
            <a:endParaRPr lang="en-US" sz="1550" dirty="0"/>
          </a:p>
        </p:txBody>
      </p:sp>
      <p:sp>
        <p:nvSpPr>
          <p:cNvPr id="10" name="Shape 7"/>
          <p:cNvSpPr/>
          <p:nvPr/>
        </p:nvSpPr>
        <p:spPr>
          <a:xfrm>
            <a:off x="5207437" y="4974669"/>
            <a:ext cx="4215408" cy="22860"/>
          </a:xfrm>
          <a:prstGeom prst="rect">
            <a:avLst/>
          </a:prstGeom>
          <a:solidFill>
            <a:srgbClr val="438951"/>
          </a:solidFill>
          <a:ln/>
        </p:spPr>
      </p:sp>
      <p:sp>
        <p:nvSpPr>
          <p:cNvPr id="11" name="Text 8"/>
          <p:cNvSpPr/>
          <p:nvPr/>
        </p:nvSpPr>
        <p:spPr>
          <a:xfrm>
            <a:off x="5207437" y="5119568"/>
            <a:ext cx="3653909" cy="310158"/>
          </a:xfrm>
          <a:prstGeom prst="rect">
            <a:avLst/>
          </a:prstGeom>
          <a:noFill/>
          <a:ln/>
        </p:spPr>
        <p:txBody>
          <a:bodyPr wrap="none" lIns="0" tIns="0" rIns="0" bIns="0" rtlCol="0" anchor="t"/>
          <a:lstStyle/>
          <a:p>
            <a:pPr marL="0" indent="0" algn="l">
              <a:lnSpc>
                <a:spcPts val="2400"/>
              </a:lnSpc>
              <a:buNone/>
            </a:pPr>
            <a:r>
              <a:rPr lang="en-US" sz="1950" b="1" dirty="0">
                <a:solidFill>
                  <a:srgbClr val="405449"/>
                </a:solidFill>
                <a:latin typeface="Fraunces Extra Bold" pitchFamily="34" charset="0"/>
                <a:ea typeface="Fraunces Extra Bold" pitchFamily="34" charset="-122"/>
                <a:cs typeface="Fraunces Extra Bold" pitchFamily="34" charset="-120"/>
              </a:rPr>
              <a:t>For Businesses and Investors</a:t>
            </a:r>
            <a:endParaRPr lang="en-US" sz="1950" dirty="0"/>
          </a:p>
        </p:txBody>
      </p:sp>
      <p:sp>
        <p:nvSpPr>
          <p:cNvPr id="12" name="Text 9"/>
          <p:cNvSpPr/>
          <p:nvPr/>
        </p:nvSpPr>
        <p:spPr>
          <a:xfrm>
            <a:off x="5207437" y="5548789"/>
            <a:ext cx="4215408" cy="1270159"/>
          </a:xfrm>
          <a:prstGeom prst="rect">
            <a:avLst/>
          </a:prstGeom>
          <a:noFill/>
          <a:ln/>
        </p:spPr>
        <p:txBody>
          <a:bodyPr wrap="square" lIns="0" tIns="0" rIns="0" bIns="0" rtlCol="0" anchor="t"/>
          <a:lstStyle/>
          <a:p>
            <a:pPr marL="0" indent="0" algn="l">
              <a:lnSpc>
                <a:spcPts val="2500"/>
              </a:lnSpc>
              <a:buNone/>
            </a:pPr>
            <a:r>
              <a:rPr lang="en-US" sz="1550" dirty="0">
                <a:solidFill>
                  <a:srgbClr val="405449"/>
                </a:solidFill>
                <a:latin typeface="Nobile" pitchFamily="34" charset="0"/>
                <a:ea typeface="Nobile" pitchFamily="34" charset="-122"/>
                <a:cs typeface="Nobile" pitchFamily="34" charset="-120"/>
              </a:rPr>
              <a:t>Companies can strategically plan borrowing and investment based on interest rate trends. Falling rates present opportunities for expansion.</a:t>
            </a:r>
            <a:endParaRPr lang="en-US" sz="1550" dirty="0"/>
          </a:p>
        </p:txBody>
      </p:sp>
      <p:sp>
        <p:nvSpPr>
          <p:cNvPr id="13" name="Text 10"/>
          <p:cNvSpPr/>
          <p:nvPr/>
        </p:nvSpPr>
        <p:spPr>
          <a:xfrm>
            <a:off x="9621203" y="4660344"/>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405449"/>
                </a:solidFill>
                <a:latin typeface="Fraunces Light" pitchFamily="34" charset="0"/>
                <a:ea typeface="Fraunces Light" pitchFamily="34" charset="-122"/>
                <a:cs typeface="Fraunces Light" pitchFamily="34" charset="-120"/>
              </a:rPr>
              <a:t>03</a:t>
            </a:r>
            <a:endParaRPr lang="en-US" sz="1550" dirty="0"/>
          </a:p>
        </p:txBody>
      </p:sp>
      <p:sp>
        <p:nvSpPr>
          <p:cNvPr id="14" name="Shape 11"/>
          <p:cNvSpPr/>
          <p:nvPr/>
        </p:nvSpPr>
        <p:spPr>
          <a:xfrm>
            <a:off x="9621203" y="4974669"/>
            <a:ext cx="4215289" cy="22860"/>
          </a:xfrm>
          <a:prstGeom prst="rect">
            <a:avLst/>
          </a:prstGeom>
          <a:solidFill>
            <a:srgbClr val="438951"/>
          </a:solidFill>
          <a:ln/>
        </p:spPr>
      </p:sp>
      <p:sp>
        <p:nvSpPr>
          <p:cNvPr id="15" name="Text 12"/>
          <p:cNvSpPr/>
          <p:nvPr/>
        </p:nvSpPr>
        <p:spPr>
          <a:xfrm>
            <a:off x="9621203" y="5119568"/>
            <a:ext cx="2932271" cy="310158"/>
          </a:xfrm>
          <a:prstGeom prst="rect">
            <a:avLst/>
          </a:prstGeom>
          <a:noFill/>
          <a:ln/>
        </p:spPr>
        <p:txBody>
          <a:bodyPr wrap="none" lIns="0" tIns="0" rIns="0" bIns="0" rtlCol="0" anchor="t"/>
          <a:lstStyle/>
          <a:p>
            <a:pPr marL="0" indent="0" algn="l">
              <a:lnSpc>
                <a:spcPts val="2400"/>
              </a:lnSpc>
              <a:buNone/>
            </a:pPr>
            <a:r>
              <a:rPr lang="en-US" sz="1950" b="1" dirty="0">
                <a:solidFill>
                  <a:srgbClr val="405449"/>
                </a:solidFill>
                <a:latin typeface="Fraunces Extra Bold" pitchFamily="34" charset="0"/>
                <a:ea typeface="Fraunces Extra Bold" pitchFamily="34" charset="-122"/>
                <a:cs typeface="Fraunces Extra Bold" pitchFamily="34" charset="-120"/>
              </a:rPr>
              <a:t>For Economic Planning</a:t>
            </a:r>
            <a:endParaRPr lang="en-US" sz="1950" dirty="0"/>
          </a:p>
        </p:txBody>
      </p:sp>
      <p:sp>
        <p:nvSpPr>
          <p:cNvPr id="16" name="Text 13"/>
          <p:cNvSpPr/>
          <p:nvPr/>
        </p:nvSpPr>
        <p:spPr>
          <a:xfrm>
            <a:off x="9621203" y="5548789"/>
            <a:ext cx="4215289" cy="1270159"/>
          </a:xfrm>
          <a:prstGeom prst="rect">
            <a:avLst/>
          </a:prstGeom>
          <a:noFill/>
          <a:ln/>
        </p:spPr>
        <p:txBody>
          <a:bodyPr wrap="square" lIns="0" tIns="0" rIns="0" bIns="0" rtlCol="0" anchor="t"/>
          <a:lstStyle/>
          <a:p>
            <a:pPr marL="0" indent="0" algn="l">
              <a:lnSpc>
                <a:spcPts val="2500"/>
              </a:lnSpc>
              <a:buNone/>
            </a:pPr>
            <a:r>
              <a:rPr lang="en-US" sz="1550" dirty="0">
                <a:solidFill>
                  <a:srgbClr val="405449"/>
                </a:solidFill>
                <a:latin typeface="Nobile" pitchFamily="34" charset="0"/>
                <a:ea typeface="Nobile" pitchFamily="34" charset="-122"/>
                <a:cs typeface="Nobile" pitchFamily="34" charset="-120"/>
              </a:rPr>
              <a:t>Governments can leverage this knowledge to promote job creation and economic development by effectively managing the cost of capital.</a:t>
            </a:r>
            <a:endParaRPr lang="en-US" sz="1550" dirty="0"/>
          </a:p>
        </p:txBody>
      </p:sp>
      <p:sp>
        <p:nvSpPr>
          <p:cNvPr id="17" name="Text 14"/>
          <p:cNvSpPr/>
          <p:nvPr/>
        </p:nvSpPr>
        <p:spPr>
          <a:xfrm>
            <a:off x="793790" y="7191018"/>
            <a:ext cx="13042821" cy="317540"/>
          </a:xfrm>
          <a:prstGeom prst="rect">
            <a:avLst/>
          </a:prstGeom>
          <a:noFill/>
          <a:ln/>
        </p:spPr>
        <p:txBody>
          <a:bodyPr wrap="none" lIns="0" tIns="0" rIns="0" bIns="0" rtlCol="0" anchor="t"/>
          <a:lstStyle/>
          <a:p>
            <a:pPr marL="0" indent="0" algn="l">
              <a:lnSpc>
                <a:spcPts val="2500"/>
              </a:lnSpc>
              <a:buNone/>
            </a:pPr>
            <a:r>
              <a:rPr lang="en-US" sz="1550" dirty="0">
                <a:solidFill>
                  <a:srgbClr val="405449"/>
                </a:solidFill>
                <a:latin typeface="Nobile" pitchFamily="34" charset="0"/>
                <a:ea typeface="Nobile" pitchFamily="34" charset="-122"/>
                <a:cs typeface="Nobile" pitchFamily="34" charset="-120"/>
              </a:rPr>
              <a:t>This research connects interest rate policy with real investment behavior, crucial for boosting Pakistan’s economic growth.</a:t>
            </a:r>
            <a:endParaRPr lang="en-US" sz="1550" dirty="0"/>
          </a:p>
        </p:txBody>
      </p:sp>
      <p:sp>
        <p:nvSpPr>
          <p:cNvPr id="18" name="Rectangle 17">
            <a:extLst>
              <a:ext uri="{FF2B5EF4-FFF2-40B4-BE49-F238E27FC236}">
                <a16:creationId xmlns:a16="http://schemas.microsoft.com/office/drawing/2014/main" id="{6070457E-750C-9B86-C786-B923913FE53D}"/>
              </a:ext>
            </a:extLst>
          </p:cNvPr>
          <p:cNvSpPr/>
          <p:nvPr/>
        </p:nvSpPr>
        <p:spPr>
          <a:xfrm>
            <a:off x="0" y="7730550"/>
            <a:ext cx="14630400" cy="499049"/>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25">
              <a:solidFill>
                <a:schemeClr val="accent6">
                  <a:lumMod val="20000"/>
                  <a:lumOff val="80000"/>
                </a:schemeClr>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307</TotalTime>
  <Words>829</Words>
  <Application>Microsoft Office PowerPoint</Application>
  <PresentationFormat>Custom</PresentationFormat>
  <Paragraphs>91</Paragraphs>
  <Slides>12</Slides>
  <Notes>10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vt:i4>
      </vt:variant>
    </vt:vector>
  </HeadingPairs>
  <TitlesOfParts>
    <vt:vector size="21" baseType="lpstr">
      <vt:lpstr>Calibri</vt:lpstr>
      <vt:lpstr>Fraunces Light</vt:lpstr>
      <vt:lpstr>Arial</vt:lpstr>
      <vt:lpstr>Nobile</vt:lpstr>
      <vt:lpstr>MS UI Gothic</vt:lpstr>
      <vt:lpstr>Fraunces Extra Bold</vt:lpstr>
      <vt:lpstr>Consolas</vt:lpstr>
      <vt:lpstr>Franklin Gothic Demi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PEACE</dc:creator>
  <cp:lastModifiedBy>Noor Official</cp:lastModifiedBy>
  <cp:revision>21</cp:revision>
  <dcterms:created xsi:type="dcterms:W3CDTF">2025-12-08T09:00:42Z</dcterms:created>
  <dcterms:modified xsi:type="dcterms:W3CDTF">2025-12-13T16:28:58Z</dcterms:modified>
</cp:coreProperties>
</file>